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Montserrat Medium" charset="1" panose="00000600000000000000"/>
      <p:regular r:id="rId57"/>
    </p:embeddedFont>
    <p:embeddedFont>
      <p:font typeface="Open Sans Extra Bold" charset="1" panose="020B0906030804020204"/>
      <p:regular r:id="rId58"/>
    </p:embeddedFont>
    <p:embeddedFont>
      <p:font typeface="Montserrat" charset="1" panose="00000500000000000000"/>
      <p:regular r:id="rId59"/>
    </p:embeddedFont>
    <p:embeddedFont>
      <p:font typeface="Montserrat Bold Italics" charset="1" panose="00000800000000000000"/>
      <p:regular r:id="rId60"/>
    </p:embeddedFont>
    <p:embeddedFont>
      <p:font typeface="Montserrat Italics" charset="1" panose="00000500000000000000"/>
      <p:regular r:id="rId61"/>
    </p:embeddedFont>
    <p:embeddedFont>
      <p:font typeface="Montserrat Bold" charset="1" panose="00000800000000000000"/>
      <p:regular r:id="rId62"/>
    </p:embeddedFont>
    <p:embeddedFont>
      <p:font typeface="Hibernate" charset="1" panose="02000503000000000000"/>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7.png" Type="http://schemas.openxmlformats.org/officeDocument/2006/relationships/image"/><Relationship Id="rId5" Target="../media/image10.png" Type="http://schemas.openxmlformats.org/officeDocument/2006/relationships/image"/><Relationship Id="rId6"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9.png" Type="http://schemas.openxmlformats.org/officeDocument/2006/relationships/image"/><Relationship Id="rId6" Target="../media/image13.png" Type="http://schemas.openxmlformats.org/officeDocument/2006/relationships/image"/><Relationship Id="rId7" Target="../media/image8.png" Type="http://schemas.openxmlformats.org/officeDocument/2006/relationships/image"/><Relationship Id="rId8"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7.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9.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0.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1.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1214591" y="-653351"/>
            <a:ext cx="3335222" cy="3026714"/>
          </a:xfrm>
          <a:custGeom>
            <a:avLst/>
            <a:gdLst/>
            <a:ahLst/>
            <a:cxnLst/>
            <a:rect r="r" b="b" t="t" l="l"/>
            <a:pathLst>
              <a:path h="3026714" w="3335222">
                <a:moveTo>
                  <a:pt x="0" y="0"/>
                </a:moveTo>
                <a:lnTo>
                  <a:pt x="3335222" y="0"/>
                </a:lnTo>
                <a:lnTo>
                  <a:pt x="3335222" y="3026714"/>
                </a:lnTo>
                <a:lnTo>
                  <a:pt x="0" y="3026714"/>
                </a:lnTo>
                <a:lnTo>
                  <a:pt x="0" y="0"/>
                </a:lnTo>
                <a:close/>
              </a:path>
            </a:pathLst>
          </a:custGeom>
          <a:blipFill>
            <a:blip r:embed="rId3"/>
            <a:stretch>
              <a:fillRect l="0" t="0" r="0" b="0"/>
            </a:stretch>
          </a:blipFill>
        </p:spPr>
      </p:sp>
      <p:sp>
        <p:nvSpPr>
          <p:cNvPr name="Freeform 4" id="4"/>
          <p:cNvSpPr/>
          <p:nvPr/>
        </p:nvSpPr>
        <p:spPr>
          <a:xfrm flipH="false" flipV="false" rot="0">
            <a:off x="2777434" y="-1093686"/>
            <a:ext cx="2669512" cy="2469299"/>
          </a:xfrm>
          <a:custGeom>
            <a:avLst/>
            <a:gdLst/>
            <a:ahLst/>
            <a:cxnLst/>
            <a:rect r="r" b="b" t="t" l="l"/>
            <a:pathLst>
              <a:path h="2469299" w="2669512">
                <a:moveTo>
                  <a:pt x="0" y="0"/>
                </a:moveTo>
                <a:lnTo>
                  <a:pt x="2669513" y="0"/>
                </a:lnTo>
                <a:lnTo>
                  <a:pt x="2669513" y="2469299"/>
                </a:lnTo>
                <a:lnTo>
                  <a:pt x="0" y="2469299"/>
                </a:lnTo>
                <a:lnTo>
                  <a:pt x="0" y="0"/>
                </a:lnTo>
                <a:close/>
              </a:path>
            </a:pathLst>
          </a:custGeom>
          <a:blipFill>
            <a:blip r:embed="rId4"/>
            <a:stretch>
              <a:fillRect l="0" t="0" r="0" b="0"/>
            </a:stretch>
          </a:blipFill>
        </p:spPr>
      </p:sp>
      <p:sp>
        <p:nvSpPr>
          <p:cNvPr name="Freeform 5" id="5"/>
          <p:cNvSpPr/>
          <p:nvPr/>
        </p:nvSpPr>
        <p:spPr>
          <a:xfrm flipH="false" flipV="false" rot="0">
            <a:off x="16323134" y="8156869"/>
            <a:ext cx="2436684" cy="2692468"/>
          </a:xfrm>
          <a:custGeom>
            <a:avLst/>
            <a:gdLst/>
            <a:ahLst/>
            <a:cxnLst/>
            <a:rect r="r" b="b" t="t" l="l"/>
            <a:pathLst>
              <a:path h="2692468" w="2436684">
                <a:moveTo>
                  <a:pt x="0" y="0"/>
                </a:moveTo>
                <a:lnTo>
                  <a:pt x="2436684" y="0"/>
                </a:lnTo>
                <a:lnTo>
                  <a:pt x="2436684" y="2692469"/>
                </a:lnTo>
                <a:lnTo>
                  <a:pt x="0" y="2692469"/>
                </a:lnTo>
                <a:lnTo>
                  <a:pt x="0" y="0"/>
                </a:lnTo>
                <a:close/>
              </a:path>
            </a:pathLst>
          </a:custGeom>
          <a:blipFill>
            <a:blip r:embed="rId5"/>
            <a:stretch>
              <a:fillRect l="0" t="0" r="0" b="0"/>
            </a:stretch>
          </a:blipFill>
        </p:spPr>
      </p:sp>
      <p:sp>
        <p:nvSpPr>
          <p:cNvPr name="Freeform 6" id="6"/>
          <p:cNvSpPr/>
          <p:nvPr/>
        </p:nvSpPr>
        <p:spPr>
          <a:xfrm flipH="false" flipV="false" rot="2523674">
            <a:off x="8574628" y="8547243"/>
            <a:ext cx="3966278" cy="3822501"/>
          </a:xfrm>
          <a:custGeom>
            <a:avLst/>
            <a:gdLst/>
            <a:ahLst/>
            <a:cxnLst/>
            <a:rect r="r" b="b" t="t" l="l"/>
            <a:pathLst>
              <a:path h="3822501" w="3966278">
                <a:moveTo>
                  <a:pt x="0" y="0"/>
                </a:moveTo>
                <a:lnTo>
                  <a:pt x="3966278" y="0"/>
                </a:lnTo>
                <a:lnTo>
                  <a:pt x="3966278" y="3822501"/>
                </a:lnTo>
                <a:lnTo>
                  <a:pt x="0" y="3822501"/>
                </a:lnTo>
                <a:lnTo>
                  <a:pt x="0" y="0"/>
                </a:lnTo>
                <a:close/>
              </a:path>
            </a:pathLst>
          </a:custGeom>
          <a:blipFill>
            <a:blip r:embed="rId6"/>
            <a:stretch>
              <a:fillRect l="0" t="0" r="0" b="0"/>
            </a:stretch>
          </a:blipFill>
        </p:spPr>
      </p:sp>
      <p:sp>
        <p:nvSpPr>
          <p:cNvPr name="Freeform 7" id="7"/>
          <p:cNvSpPr/>
          <p:nvPr/>
        </p:nvSpPr>
        <p:spPr>
          <a:xfrm flipH="false" flipV="false" rot="0">
            <a:off x="13748651" y="8858795"/>
            <a:ext cx="2268425" cy="1990543"/>
          </a:xfrm>
          <a:custGeom>
            <a:avLst/>
            <a:gdLst/>
            <a:ahLst/>
            <a:cxnLst/>
            <a:rect r="r" b="b" t="t" l="l"/>
            <a:pathLst>
              <a:path h="1990543" w="2268425">
                <a:moveTo>
                  <a:pt x="0" y="0"/>
                </a:moveTo>
                <a:lnTo>
                  <a:pt x="2268425" y="0"/>
                </a:lnTo>
                <a:lnTo>
                  <a:pt x="2268425" y="1990543"/>
                </a:lnTo>
                <a:lnTo>
                  <a:pt x="0" y="1990543"/>
                </a:lnTo>
                <a:lnTo>
                  <a:pt x="0" y="0"/>
                </a:lnTo>
                <a:close/>
              </a:path>
            </a:pathLst>
          </a:custGeom>
          <a:blipFill>
            <a:blip r:embed="rId7"/>
            <a:stretch>
              <a:fillRect l="0" t="0" r="0" b="0"/>
            </a:stretch>
          </a:blipFill>
        </p:spPr>
      </p:sp>
      <p:sp>
        <p:nvSpPr>
          <p:cNvPr name="Freeform 8" id="8"/>
          <p:cNvSpPr/>
          <p:nvPr/>
        </p:nvSpPr>
        <p:spPr>
          <a:xfrm flipH="false" flipV="false" rot="-2829396">
            <a:off x="16595204" y="61939"/>
            <a:ext cx="3367561" cy="3245487"/>
          </a:xfrm>
          <a:custGeom>
            <a:avLst/>
            <a:gdLst/>
            <a:ahLst/>
            <a:cxnLst/>
            <a:rect r="r" b="b" t="t" l="l"/>
            <a:pathLst>
              <a:path h="3245487" w="3367561">
                <a:moveTo>
                  <a:pt x="0" y="0"/>
                </a:moveTo>
                <a:lnTo>
                  <a:pt x="3367561" y="0"/>
                </a:lnTo>
                <a:lnTo>
                  <a:pt x="3367561" y="3245487"/>
                </a:lnTo>
                <a:lnTo>
                  <a:pt x="0" y="3245487"/>
                </a:lnTo>
                <a:lnTo>
                  <a:pt x="0" y="0"/>
                </a:lnTo>
                <a:close/>
              </a:path>
            </a:pathLst>
          </a:custGeom>
          <a:blipFill>
            <a:blip r:embed="rId6"/>
            <a:stretch>
              <a:fillRect l="0" t="0" r="0" b="0"/>
            </a:stretch>
          </a:blipFill>
        </p:spPr>
      </p:sp>
      <p:sp>
        <p:nvSpPr>
          <p:cNvPr name="Freeform 9" id="9"/>
          <p:cNvSpPr/>
          <p:nvPr/>
        </p:nvSpPr>
        <p:spPr>
          <a:xfrm flipH="false" flipV="false" rot="0">
            <a:off x="-1214591" y="3572091"/>
            <a:ext cx="2429181" cy="4015176"/>
          </a:xfrm>
          <a:custGeom>
            <a:avLst/>
            <a:gdLst/>
            <a:ahLst/>
            <a:cxnLst/>
            <a:rect r="r" b="b" t="t" l="l"/>
            <a:pathLst>
              <a:path h="4015176" w="2429181">
                <a:moveTo>
                  <a:pt x="0" y="0"/>
                </a:moveTo>
                <a:lnTo>
                  <a:pt x="2429182" y="0"/>
                </a:lnTo>
                <a:lnTo>
                  <a:pt x="2429182" y="4015176"/>
                </a:lnTo>
                <a:lnTo>
                  <a:pt x="0" y="4015176"/>
                </a:lnTo>
                <a:lnTo>
                  <a:pt x="0" y="0"/>
                </a:lnTo>
                <a:close/>
              </a:path>
            </a:pathLst>
          </a:custGeom>
          <a:blipFill>
            <a:blip r:embed="rId8"/>
            <a:stretch>
              <a:fillRect l="0" t="0" r="0" b="0"/>
            </a:stretch>
          </a:blipFill>
        </p:spPr>
      </p:sp>
      <p:sp>
        <p:nvSpPr>
          <p:cNvPr name="Freeform 10" id="10"/>
          <p:cNvSpPr/>
          <p:nvPr/>
        </p:nvSpPr>
        <p:spPr>
          <a:xfrm flipH="false" flipV="false" rot="0">
            <a:off x="16736567" y="4592514"/>
            <a:ext cx="3102866" cy="3118458"/>
          </a:xfrm>
          <a:custGeom>
            <a:avLst/>
            <a:gdLst/>
            <a:ahLst/>
            <a:cxnLst/>
            <a:rect r="r" b="b" t="t" l="l"/>
            <a:pathLst>
              <a:path h="3118458" w="3102866">
                <a:moveTo>
                  <a:pt x="0" y="0"/>
                </a:moveTo>
                <a:lnTo>
                  <a:pt x="3102866" y="0"/>
                </a:lnTo>
                <a:lnTo>
                  <a:pt x="3102866" y="3118458"/>
                </a:lnTo>
                <a:lnTo>
                  <a:pt x="0" y="3118458"/>
                </a:lnTo>
                <a:lnTo>
                  <a:pt x="0" y="0"/>
                </a:lnTo>
                <a:close/>
              </a:path>
            </a:pathLst>
          </a:custGeom>
          <a:blipFill>
            <a:blip r:embed="rId9"/>
            <a:stretch>
              <a:fillRect l="0" t="0" r="0" b="0"/>
            </a:stretch>
          </a:blipFill>
        </p:spPr>
      </p:sp>
      <p:sp>
        <p:nvSpPr>
          <p:cNvPr name="Freeform 11" id="11"/>
          <p:cNvSpPr/>
          <p:nvPr/>
        </p:nvSpPr>
        <p:spPr>
          <a:xfrm flipH="false" flipV="false" rot="-10726236">
            <a:off x="13288786" y="-648443"/>
            <a:ext cx="4156830" cy="1979691"/>
          </a:xfrm>
          <a:custGeom>
            <a:avLst/>
            <a:gdLst/>
            <a:ahLst/>
            <a:cxnLst/>
            <a:rect r="r" b="b" t="t" l="l"/>
            <a:pathLst>
              <a:path h="1979691" w="4156830">
                <a:moveTo>
                  <a:pt x="0" y="0"/>
                </a:moveTo>
                <a:lnTo>
                  <a:pt x="4156830" y="0"/>
                </a:lnTo>
                <a:lnTo>
                  <a:pt x="4156830" y="1979691"/>
                </a:lnTo>
                <a:lnTo>
                  <a:pt x="0" y="1979691"/>
                </a:lnTo>
                <a:lnTo>
                  <a:pt x="0" y="0"/>
                </a:lnTo>
                <a:close/>
              </a:path>
            </a:pathLst>
          </a:custGeom>
          <a:blipFill>
            <a:blip r:embed="rId10"/>
            <a:stretch>
              <a:fillRect l="0" t="0" r="0" b="0"/>
            </a:stretch>
          </a:blipFill>
        </p:spPr>
      </p:sp>
      <p:sp>
        <p:nvSpPr>
          <p:cNvPr name="Freeform 12" id="12"/>
          <p:cNvSpPr/>
          <p:nvPr/>
        </p:nvSpPr>
        <p:spPr>
          <a:xfrm flipH="false" flipV="false" rot="0">
            <a:off x="10789271" y="-1202197"/>
            <a:ext cx="2478756" cy="2404393"/>
          </a:xfrm>
          <a:custGeom>
            <a:avLst/>
            <a:gdLst/>
            <a:ahLst/>
            <a:cxnLst/>
            <a:rect r="r" b="b" t="t" l="l"/>
            <a:pathLst>
              <a:path h="2404393" w="2478756">
                <a:moveTo>
                  <a:pt x="0" y="0"/>
                </a:moveTo>
                <a:lnTo>
                  <a:pt x="2478756" y="0"/>
                </a:lnTo>
                <a:lnTo>
                  <a:pt x="2478756" y="2404394"/>
                </a:lnTo>
                <a:lnTo>
                  <a:pt x="0" y="2404394"/>
                </a:lnTo>
                <a:lnTo>
                  <a:pt x="0" y="0"/>
                </a:lnTo>
                <a:close/>
              </a:path>
            </a:pathLst>
          </a:custGeom>
          <a:blipFill>
            <a:blip r:embed="rId11"/>
            <a:stretch>
              <a:fillRect l="0" t="0" r="0" b="0"/>
            </a:stretch>
          </a:blipFill>
        </p:spPr>
      </p:sp>
      <p:sp>
        <p:nvSpPr>
          <p:cNvPr name="Freeform 13" id="13"/>
          <p:cNvSpPr/>
          <p:nvPr/>
        </p:nvSpPr>
        <p:spPr>
          <a:xfrm flipH="false" flipV="false" rot="0">
            <a:off x="-778935" y="8261739"/>
            <a:ext cx="3287385" cy="3184654"/>
          </a:xfrm>
          <a:custGeom>
            <a:avLst/>
            <a:gdLst/>
            <a:ahLst/>
            <a:cxnLst/>
            <a:rect r="r" b="b" t="t" l="l"/>
            <a:pathLst>
              <a:path h="3184654" w="3287385">
                <a:moveTo>
                  <a:pt x="0" y="0"/>
                </a:moveTo>
                <a:lnTo>
                  <a:pt x="3287384" y="0"/>
                </a:lnTo>
                <a:lnTo>
                  <a:pt x="3287384" y="3184654"/>
                </a:lnTo>
                <a:lnTo>
                  <a:pt x="0" y="3184654"/>
                </a:lnTo>
                <a:lnTo>
                  <a:pt x="0" y="0"/>
                </a:lnTo>
                <a:close/>
              </a:path>
            </a:pathLst>
          </a:custGeom>
          <a:blipFill>
            <a:blip r:embed="rId12"/>
            <a:stretch>
              <a:fillRect l="0" t="0" r="0" b="0"/>
            </a:stretch>
          </a:blipFill>
        </p:spPr>
      </p:sp>
      <p:sp>
        <p:nvSpPr>
          <p:cNvPr name="Freeform 14" id="14"/>
          <p:cNvSpPr/>
          <p:nvPr/>
        </p:nvSpPr>
        <p:spPr>
          <a:xfrm flipH="false" flipV="false" rot="0">
            <a:off x="3083439" y="9151851"/>
            <a:ext cx="4283445" cy="2039991"/>
          </a:xfrm>
          <a:custGeom>
            <a:avLst/>
            <a:gdLst/>
            <a:ahLst/>
            <a:cxnLst/>
            <a:rect r="r" b="b" t="t" l="l"/>
            <a:pathLst>
              <a:path h="2039991" w="4283445">
                <a:moveTo>
                  <a:pt x="0" y="0"/>
                </a:moveTo>
                <a:lnTo>
                  <a:pt x="4283444" y="0"/>
                </a:lnTo>
                <a:lnTo>
                  <a:pt x="4283444" y="2039990"/>
                </a:lnTo>
                <a:lnTo>
                  <a:pt x="0" y="2039990"/>
                </a:lnTo>
                <a:lnTo>
                  <a:pt x="0" y="0"/>
                </a:lnTo>
                <a:close/>
              </a:path>
            </a:pathLst>
          </a:custGeom>
          <a:blipFill>
            <a:blip r:embed="rId10"/>
            <a:stretch>
              <a:fillRect l="0" t="0" r="0" b="0"/>
            </a:stretch>
          </a:blipFill>
        </p:spPr>
      </p:sp>
      <p:sp>
        <p:nvSpPr>
          <p:cNvPr name="Freeform 15" id="15"/>
          <p:cNvSpPr/>
          <p:nvPr/>
        </p:nvSpPr>
        <p:spPr>
          <a:xfrm flipH="false" flipV="false" rot="-8754662">
            <a:off x="5893358" y="-2053103"/>
            <a:ext cx="4176376" cy="3664770"/>
          </a:xfrm>
          <a:custGeom>
            <a:avLst/>
            <a:gdLst/>
            <a:ahLst/>
            <a:cxnLst/>
            <a:rect r="r" b="b" t="t" l="l"/>
            <a:pathLst>
              <a:path h="3664770" w="4176376">
                <a:moveTo>
                  <a:pt x="0" y="0"/>
                </a:moveTo>
                <a:lnTo>
                  <a:pt x="4176376" y="0"/>
                </a:lnTo>
                <a:lnTo>
                  <a:pt x="4176376" y="3664769"/>
                </a:lnTo>
                <a:lnTo>
                  <a:pt x="0" y="3664769"/>
                </a:lnTo>
                <a:lnTo>
                  <a:pt x="0" y="0"/>
                </a:lnTo>
                <a:close/>
              </a:path>
            </a:pathLst>
          </a:custGeom>
          <a:blipFill>
            <a:blip r:embed="rId7"/>
            <a:stretch>
              <a:fillRect l="0" t="0" r="0" b="0"/>
            </a:stretch>
          </a:blipFill>
        </p:spPr>
      </p:sp>
      <p:grpSp>
        <p:nvGrpSpPr>
          <p:cNvPr name="Group 16" id="16"/>
          <p:cNvGrpSpPr/>
          <p:nvPr/>
        </p:nvGrpSpPr>
        <p:grpSpPr>
          <a:xfrm rot="0">
            <a:off x="1917403" y="3450588"/>
            <a:ext cx="14453193" cy="1380354"/>
            <a:chOff x="0" y="0"/>
            <a:chExt cx="3319314" cy="317012"/>
          </a:xfrm>
        </p:grpSpPr>
        <p:sp>
          <p:nvSpPr>
            <p:cNvPr name="Freeform 17" id="17"/>
            <p:cNvSpPr/>
            <p:nvPr/>
          </p:nvSpPr>
          <p:spPr>
            <a:xfrm flipH="false" flipV="false" rot="0">
              <a:off x="0" y="0"/>
              <a:ext cx="3319314" cy="317012"/>
            </a:xfrm>
            <a:custGeom>
              <a:avLst/>
              <a:gdLst/>
              <a:ahLst/>
              <a:cxnLst/>
              <a:rect r="r" b="b" t="t" l="l"/>
              <a:pathLst>
                <a:path h="317012" w="3319314">
                  <a:moveTo>
                    <a:pt x="8035" y="0"/>
                  </a:moveTo>
                  <a:lnTo>
                    <a:pt x="3311279" y="0"/>
                  </a:lnTo>
                  <a:cubicBezTo>
                    <a:pt x="3313410" y="0"/>
                    <a:pt x="3315454" y="847"/>
                    <a:pt x="3316961" y="2353"/>
                  </a:cubicBezTo>
                  <a:cubicBezTo>
                    <a:pt x="3318468" y="3860"/>
                    <a:pt x="3319314" y="5904"/>
                    <a:pt x="3319314" y="8035"/>
                  </a:cubicBezTo>
                  <a:lnTo>
                    <a:pt x="3319314" y="308977"/>
                  </a:lnTo>
                  <a:cubicBezTo>
                    <a:pt x="3319314" y="313414"/>
                    <a:pt x="3315717" y="317012"/>
                    <a:pt x="3311279" y="317012"/>
                  </a:cubicBezTo>
                  <a:lnTo>
                    <a:pt x="8035" y="317012"/>
                  </a:lnTo>
                  <a:cubicBezTo>
                    <a:pt x="3597" y="317012"/>
                    <a:pt x="0" y="313414"/>
                    <a:pt x="0" y="308977"/>
                  </a:cubicBezTo>
                  <a:lnTo>
                    <a:pt x="0" y="8035"/>
                  </a:lnTo>
                  <a:cubicBezTo>
                    <a:pt x="0" y="3597"/>
                    <a:pt x="3597" y="0"/>
                    <a:pt x="8035" y="0"/>
                  </a:cubicBezTo>
                  <a:close/>
                </a:path>
              </a:pathLst>
            </a:custGeom>
            <a:solidFill>
              <a:srgbClr val="FFE4B4"/>
            </a:solidFill>
          </p:spPr>
        </p:sp>
        <p:sp>
          <p:nvSpPr>
            <p:cNvPr name="TextBox 18" id="18"/>
            <p:cNvSpPr txBox="true"/>
            <p:nvPr/>
          </p:nvSpPr>
          <p:spPr>
            <a:xfrm>
              <a:off x="0" y="-9525"/>
              <a:ext cx="3319314" cy="326537"/>
            </a:xfrm>
            <a:prstGeom prst="rect">
              <a:avLst/>
            </a:prstGeom>
          </p:spPr>
          <p:txBody>
            <a:bodyPr anchor="ctr" rtlCol="false" tIns="50800" lIns="50800" bIns="50800" rIns="50800"/>
            <a:lstStyle/>
            <a:p>
              <a:pPr algn="ctr">
                <a:lnSpc>
                  <a:spcPts val="979"/>
                </a:lnSpc>
                <a:spcBef>
                  <a:spcPct val="0"/>
                </a:spcBef>
              </a:pPr>
            </a:p>
          </p:txBody>
        </p:sp>
      </p:grpSp>
      <p:sp>
        <p:nvSpPr>
          <p:cNvPr name="TextBox 19" id="19"/>
          <p:cNvSpPr txBox="true"/>
          <p:nvPr/>
        </p:nvSpPr>
        <p:spPr>
          <a:xfrm rot="0">
            <a:off x="4227473" y="5532054"/>
            <a:ext cx="9833055" cy="1434327"/>
          </a:xfrm>
          <a:prstGeom prst="rect">
            <a:avLst/>
          </a:prstGeom>
        </p:spPr>
        <p:txBody>
          <a:bodyPr anchor="t" rtlCol="false" tIns="0" lIns="0" bIns="0" rIns="0">
            <a:spAutoFit/>
          </a:bodyPr>
          <a:lstStyle/>
          <a:p>
            <a:pPr algn="ctr">
              <a:lnSpc>
                <a:spcPts val="5729"/>
              </a:lnSpc>
            </a:pPr>
            <a:r>
              <a:rPr lang="en-US" b="true" sz="4373" spc="389">
                <a:solidFill>
                  <a:srgbClr val="404040"/>
                </a:solidFill>
                <a:latin typeface="Montserrat Medium"/>
                <a:ea typeface="Montserrat Medium"/>
                <a:cs typeface="Montserrat Medium"/>
                <a:sym typeface="Montserrat Medium"/>
              </a:rPr>
              <a:t>22521389 - Nguyễn Hữu Thiện</a:t>
            </a:r>
          </a:p>
          <a:p>
            <a:pPr algn="ctr" marL="0" indent="0" lvl="0">
              <a:lnSpc>
                <a:spcPts val="5729"/>
              </a:lnSpc>
            </a:pPr>
            <a:r>
              <a:rPr lang="en-US" b="true" sz="4373" spc="389">
                <a:solidFill>
                  <a:srgbClr val="404040"/>
                </a:solidFill>
                <a:latin typeface="Montserrat Medium"/>
                <a:ea typeface="Montserrat Medium"/>
                <a:cs typeface="Montserrat Medium"/>
                <a:sym typeface="Montserrat Medium"/>
              </a:rPr>
              <a:t>22521658 - Phan Thị Tường Vi</a:t>
            </a:r>
          </a:p>
        </p:txBody>
      </p:sp>
      <p:sp>
        <p:nvSpPr>
          <p:cNvPr name="TextBox 20" id="20"/>
          <p:cNvSpPr txBox="true"/>
          <p:nvPr/>
        </p:nvSpPr>
        <p:spPr>
          <a:xfrm rot="0">
            <a:off x="1460154" y="3345813"/>
            <a:ext cx="15367692" cy="1622425"/>
          </a:xfrm>
          <a:prstGeom prst="rect">
            <a:avLst/>
          </a:prstGeom>
        </p:spPr>
        <p:txBody>
          <a:bodyPr anchor="t" rtlCol="false" tIns="0" lIns="0" bIns="0" rIns="0">
            <a:spAutoFit/>
          </a:bodyPr>
          <a:lstStyle/>
          <a:p>
            <a:pPr algn="ctr" marL="0" indent="0" lvl="0">
              <a:lnSpc>
                <a:spcPts val="13099"/>
              </a:lnSpc>
              <a:spcBef>
                <a:spcPct val="0"/>
              </a:spcBef>
            </a:pPr>
            <a:r>
              <a:rPr lang="en-US" sz="9999">
                <a:solidFill>
                  <a:srgbClr val="404040"/>
                </a:solidFill>
                <a:latin typeface="Open Sans Extra Bold"/>
                <a:ea typeface="Open Sans Extra Bold"/>
                <a:cs typeface="Open Sans Extra Bold"/>
                <a:sym typeface="Open Sans Extra Bold"/>
              </a:rPr>
              <a:t>KHO DỮ LIỆU VÀ OLAP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grpSp>
        <p:nvGrpSpPr>
          <p:cNvPr name="Group 3" id="3"/>
          <p:cNvGrpSpPr/>
          <p:nvPr/>
        </p:nvGrpSpPr>
        <p:grpSpPr>
          <a:xfrm rot="0">
            <a:off x="2973535" y="3603782"/>
            <a:ext cx="12340930" cy="5112705"/>
            <a:chOff x="0" y="0"/>
            <a:chExt cx="3250286" cy="1346556"/>
          </a:xfrm>
        </p:grpSpPr>
        <p:sp>
          <p:nvSpPr>
            <p:cNvPr name="Freeform 4" id="4"/>
            <p:cNvSpPr/>
            <p:nvPr/>
          </p:nvSpPr>
          <p:spPr>
            <a:xfrm flipH="false" flipV="false" rot="0">
              <a:off x="0" y="0"/>
              <a:ext cx="3250286" cy="1346556"/>
            </a:xfrm>
            <a:custGeom>
              <a:avLst/>
              <a:gdLst/>
              <a:ahLst/>
              <a:cxnLst/>
              <a:rect r="r" b="b" t="t" l="l"/>
              <a:pathLst>
                <a:path h="1346556" w="3250286">
                  <a:moveTo>
                    <a:pt x="31994" y="0"/>
                  </a:moveTo>
                  <a:lnTo>
                    <a:pt x="3218292" y="0"/>
                  </a:lnTo>
                  <a:cubicBezTo>
                    <a:pt x="3235962" y="0"/>
                    <a:pt x="3250286" y="14324"/>
                    <a:pt x="3250286" y="31994"/>
                  </a:cubicBezTo>
                  <a:lnTo>
                    <a:pt x="3250286" y="1314562"/>
                  </a:lnTo>
                  <a:cubicBezTo>
                    <a:pt x="3250286" y="1332232"/>
                    <a:pt x="3235962" y="1346556"/>
                    <a:pt x="3218292" y="1346556"/>
                  </a:cubicBezTo>
                  <a:lnTo>
                    <a:pt x="31994" y="1346556"/>
                  </a:lnTo>
                  <a:cubicBezTo>
                    <a:pt x="14324" y="1346556"/>
                    <a:pt x="0" y="1332232"/>
                    <a:pt x="0" y="1314562"/>
                  </a:cubicBezTo>
                  <a:lnTo>
                    <a:pt x="0" y="31994"/>
                  </a:lnTo>
                  <a:cubicBezTo>
                    <a:pt x="0" y="14324"/>
                    <a:pt x="14324" y="0"/>
                    <a:pt x="31994" y="0"/>
                  </a:cubicBezTo>
                  <a:close/>
                </a:path>
              </a:pathLst>
            </a:custGeom>
            <a:solidFill>
              <a:srgbClr val="B8CDDB"/>
            </a:solidFill>
          </p:spPr>
        </p:sp>
        <p:sp>
          <p:nvSpPr>
            <p:cNvPr name="TextBox 5" id="5"/>
            <p:cNvSpPr txBox="true"/>
            <p:nvPr/>
          </p:nvSpPr>
          <p:spPr>
            <a:xfrm>
              <a:off x="0" y="9525"/>
              <a:ext cx="3250286" cy="1337031"/>
            </a:xfrm>
            <a:prstGeom prst="rect">
              <a:avLst/>
            </a:prstGeom>
          </p:spPr>
          <p:txBody>
            <a:bodyPr anchor="ctr" rtlCol="false" tIns="50800" lIns="50800" bIns="50800" rIns="50800"/>
            <a:lstStyle/>
            <a:p>
              <a:pPr algn="ctr">
                <a:lnSpc>
                  <a:spcPts val="2898"/>
                </a:lnSpc>
              </a:pPr>
            </a:p>
          </p:txBody>
        </p:sp>
      </p:grpSp>
      <p:sp>
        <p:nvSpPr>
          <p:cNvPr name="Freeform 6" id="6"/>
          <p:cNvSpPr/>
          <p:nvPr/>
        </p:nvSpPr>
        <p:spPr>
          <a:xfrm flipH="false" flipV="false" rot="0">
            <a:off x="16323134" y="8156869"/>
            <a:ext cx="2436684" cy="2692468"/>
          </a:xfrm>
          <a:custGeom>
            <a:avLst/>
            <a:gdLst/>
            <a:ahLst/>
            <a:cxnLst/>
            <a:rect r="r" b="b" t="t" l="l"/>
            <a:pathLst>
              <a:path h="2692468" w="2436684">
                <a:moveTo>
                  <a:pt x="0" y="0"/>
                </a:moveTo>
                <a:lnTo>
                  <a:pt x="2436684" y="0"/>
                </a:lnTo>
                <a:lnTo>
                  <a:pt x="2436684" y="2692469"/>
                </a:lnTo>
                <a:lnTo>
                  <a:pt x="0" y="2692469"/>
                </a:lnTo>
                <a:lnTo>
                  <a:pt x="0" y="0"/>
                </a:lnTo>
                <a:close/>
              </a:path>
            </a:pathLst>
          </a:custGeom>
          <a:blipFill>
            <a:blip r:embed="rId3"/>
            <a:stretch>
              <a:fillRect l="0" t="0" r="0" b="0"/>
            </a:stretch>
          </a:blipFill>
        </p:spPr>
      </p:sp>
      <p:sp>
        <p:nvSpPr>
          <p:cNvPr name="Freeform 7" id="7"/>
          <p:cNvSpPr/>
          <p:nvPr/>
        </p:nvSpPr>
        <p:spPr>
          <a:xfrm flipH="false" flipV="false" rot="0">
            <a:off x="-1214591" y="6834162"/>
            <a:ext cx="2429181" cy="4015176"/>
          </a:xfrm>
          <a:custGeom>
            <a:avLst/>
            <a:gdLst/>
            <a:ahLst/>
            <a:cxnLst/>
            <a:rect r="r" b="b" t="t" l="l"/>
            <a:pathLst>
              <a:path h="4015176" w="2429181">
                <a:moveTo>
                  <a:pt x="0" y="0"/>
                </a:moveTo>
                <a:lnTo>
                  <a:pt x="2429182" y="0"/>
                </a:lnTo>
                <a:lnTo>
                  <a:pt x="2429182" y="4015176"/>
                </a:lnTo>
                <a:lnTo>
                  <a:pt x="0" y="4015176"/>
                </a:lnTo>
                <a:lnTo>
                  <a:pt x="0" y="0"/>
                </a:lnTo>
                <a:close/>
              </a:path>
            </a:pathLst>
          </a:custGeom>
          <a:blipFill>
            <a:blip r:embed="rId4"/>
            <a:stretch>
              <a:fillRect l="0" t="0" r="0" b="0"/>
            </a:stretch>
          </a:blipFill>
        </p:spPr>
      </p:sp>
      <p:sp>
        <p:nvSpPr>
          <p:cNvPr name="Freeform 8" id="8"/>
          <p:cNvSpPr/>
          <p:nvPr/>
        </p:nvSpPr>
        <p:spPr>
          <a:xfrm flipH="false" flipV="false" rot="0">
            <a:off x="16323134" y="-425331"/>
            <a:ext cx="2478756" cy="2404393"/>
          </a:xfrm>
          <a:custGeom>
            <a:avLst/>
            <a:gdLst/>
            <a:ahLst/>
            <a:cxnLst/>
            <a:rect r="r" b="b" t="t" l="l"/>
            <a:pathLst>
              <a:path h="2404393" w="2478756">
                <a:moveTo>
                  <a:pt x="0" y="0"/>
                </a:moveTo>
                <a:lnTo>
                  <a:pt x="2478756" y="0"/>
                </a:lnTo>
                <a:lnTo>
                  <a:pt x="2478756" y="2404393"/>
                </a:lnTo>
                <a:lnTo>
                  <a:pt x="0" y="2404393"/>
                </a:lnTo>
                <a:lnTo>
                  <a:pt x="0" y="0"/>
                </a:lnTo>
                <a:close/>
              </a:path>
            </a:pathLst>
          </a:custGeom>
          <a:blipFill>
            <a:blip r:embed="rId5"/>
            <a:stretch>
              <a:fillRect l="0" t="0" r="0" b="0"/>
            </a:stretch>
          </a:blipFill>
        </p:spPr>
      </p:sp>
      <p:sp>
        <p:nvSpPr>
          <p:cNvPr name="Freeform 9" id="9"/>
          <p:cNvSpPr/>
          <p:nvPr/>
        </p:nvSpPr>
        <p:spPr>
          <a:xfrm flipH="false" flipV="false" rot="0">
            <a:off x="-1214591" y="-1246789"/>
            <a:ext cx="3669227" cy="4550979"/>
          </a:xfrm>
          <a:custGeom>
            <a:avLst/>
            <a:gdLst/>
            <a:ahLst/>
            <a:cxnLst/>
            <a:rect r="r" b="b" t="t" l="l"/>
            <a:pathLst>
              <a:path h="4550979" w="3669227">
                <a:moveTo>
                  <a:pt x="0" y="0"/>
                </a:moveTo>
                <a:lnTo>
                  <a:pt x="3669227" y="0"/>
                </a:lnTo>
                <a:lnTo>
                  <a:pt x="3669227" y="4550978"/>
                </a:lnTo>
                <a:lnTo>
                  <a:pt x="0" y="4550978"/>
                </a:lnTo>
                <a:lnTo>
                  <a:pt x="0" y="0"/>
                </a:lnTo>
                <a:close/>
              </a:path>
            </a:pathLst>
          </a:custGeom>
          <a:blipFill>
            <a:blip r:embed="rId6"/>
            <a:stretch>
              <a:fillRect l="0" t="0" r="0" b="0"/>
            </a:stretch>
          </a:blipFill>
        </p:spPr>
      </p:sp>
      <p:sp>
        <p:nvSpPr>
          <p:cNvPr name="TextBox 10" id="10"/>
          <p:cNvSpPr txBox="true"/>
          <p:nvPr/>
        </p:nvSpPr>
        <p:spPr>
          <a:xfrm rot="0">
            <a:off x="5148828" y="2076607"/>
            <a:ext cx="7990345" cy="1622425"/>
          </a:xfrm>
          <a:prstGeom prst="rect">
            <a:avLst/>
          </a:prstGeom>
        </p:spPr>
        <p:txBody>
          <a:bodyPr anchor="t" rtlCol="false" tIns="0" lIns="0" bIns="0" rIns="0">
            <a:spAutoFit/>
          </a:bodyPr>
          <a:lstStyle/>
          <a:p>
            <a:pPr algn="ctr" marL="0" indent="0" lvl="0">
              <a:lnSpc>
                <a:spcPts val="13099"/>
              </a:lnSpc>
              <a:spcBef>
                <a:spcPct val="0"/>
              </a:spcBef>
            </a:pPr>
            <a:r>
              <a:rPr lang="en-US" sz="9999">
                <a:solidFill>
                  <a:srgbClr val="404040"/>
                </a:solidFill>
                <a:latin typeface="Open Sans Extra Bold"/>
                <a:ea typeface="Open Sans Extra Bold"/>
                <a:cs typeface="Open Sans Extra Bold"/>
                <a:sym typeface="Open Sans Extra Bold"/>
              </a:rPr>
              <a:t>ĐỀ TÀI</a:t>
            </a:r>
          </a:p>
        </p:txBody>
      </p:sp>
      <p:sp>
        <p:nvSpPr>
          <p:cNvPr name="TextBox 11" id="11"/>
          <p:cNvSpPr txBox="true"/>
          <p:nvPr/>
        </p:nvSpPr>
        <p:spPr>
          <a:xfrm rot="0">
            <a:off x="4280018" y="4145279"/>
            <a:ext cx="9727964" cy="3924937"/>
          </a:xfrm>
          <a:prstGeom prst="rect">
            <a:avLst/>
          </a:prstGeom>
        </p:spPr>
        <p:txBody>
          <a:bodyPr anchor="t" rtlCol="false" tIns="0" lIns="0" bIns="0" rIns="0">
            <a:spAutoFit/>
          </a:bodyPr>
          <a:lstStyle/>
          <a:p>
            <a:pPr algn="ctr">
              <a:lnSpc>
                <a:spcPts val="7839"/>
              </a:lnSpc>
              <a:spcBef>
                <a:spcPct val="0"/>
              </a:spcBef>
            </a:pPr>
            <a:r>
              <a:rPr lang="en-US" b="true" sz="5599">
                <a:solidFill>
                  <a:srgbClr val="404040"/>
                </a:solidFill>
                <a:latin typeface="Montserrat Medium"/>
                <a:ea typeface="Montserrat Medium"/>
                <a:cs typeface="Montserrat Medium"/>
                <a:sym typeface="Montserrat Medium"/>
              </a:rPr>
              <a:t>PHÂN TÍCH DỮ LIỆU VỀ SỐ NGƯỜI THƯƠNG VONG DO TAI NẠN GIAO THÔNG Ở VƯƠNG QUỐC ANH</a:t>
            </a:r>
          </a:p>
        </p:txBody>
      </p:sp>
      <p:sp>
        <p:nvSpPr>
          <p:cNvPr name="Freeform 12" id="12"/>
          <p:cNvSpPr/>
          <p:nvPr/>
        </p:nvSpPr>
        <p:spPr>
          <a:xfrm flipH="false" flipV="false" rot="0">
            <a:off x="17073409" y="3135912"/>
            <a:ext cx="2429181" cy="4015176"/>
          </a:xfrm>
          <a:custGeom>
            <a:avLst/>
            <a:gdLst/>
            <a:ahLst/>
            <a:cxnLst/>
            <a:rect r="r" b="b" t="t" l="l"/>
            <a:pathLst>
              <a:path h="4015176" w="2429181">
                <a:moveTo>
                  <a:pt x="0" y="0"/>
                </a:moveTo>
                <a:lnTo>
                  <a:pt x="2429182" y="0"/>
                </a:lnTo>
                <a:lnTo>
                  <a:pt x="2429182" y="4015176"/>
                </a:lnTo>
                <a:lnTo>
                  <a:pt x="0" y="4015176"/>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AutoShape 3" id="3"/>
          <p:cNvSpPr/>
          <p:nvPr/>
        </p:nvSpPr>
        <p:spPr>
          <a:xfrm rot="0">
            <a:off x="-886757" y="3964925"/>
            <a:ext cx="20061513" cy="0"/>
          </a:xfrm>
          <a:prstGeom prst="line">
            <a:avLst/>
          </a:prstGeom>
          <a:ln cap="flat" w="28575">
            <a:solidFill>
              <a:srgbClr val="525252"/>
            </a:solidFill>
            <a:prstDash val="solid"/>
            <a:headEnd type="none" len="sm" w="sm"/>
            <a:tailEnd type="none" len="sm" w="sm"/>
          </a:ln>
        </p:spPr>
      </p:sp>
      <p:grpSp>
        <p:nvGrpSpPr>
          <p:cNvPr name="Group 4" id="4"/>
          <p:cNvGrpSpPr/>
          <p:nvPr/>
        </p:nvGrpSpPr>
        <p:grpSpPr>
          <a:xfrm rot="0">
            <a:off x="14318712" y="3728184"/>
            <a:ext cx="502056" cy="50205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525252"/>
            </a:solidFill>
          </p:spPr>
        </p:sp>
        <p:sp>
          <p:nvSpPr>
            <p:cNvPr name="TextBox 6" id="6"/>
            <p:cNvSpPr txBox="true"/>
            <p:nvPr/>
          </p:nvSpPr>
          <p:spPr>
            <a:xfrm>
              <a:off x="127000" y="165100"/>
              <a:ext cx="558800" cy="520700"/>
            </a:xfrm>
            <a:prstGeom prst="rect">
              <a:avLst/>
            </a:prstGeom>
          </p:spPr>
          <p:txBody>
            <a:bodyPr anchor="ctr" rtlCol="false" tIns="50800" lIns="50800" bIns="50800" rIns="50800"/>
            <a:lstStyle/>
            <a:p>
              <a:pPr algn="ctr">
                <a:lnSpc>
                  <a:spcPts val="2266"/>
                </a:lnSpc>
              </a:pPr>
            </a:p>
          </p:txBody>
        </p:sp>
      </p:grpSp>
      <p:grpSp>
        <p:nvGrpSpPr>
          <p:cNvPr name="Group 7" id="7"/>
          <p:cNvGrpSpPr/>
          <p:nvPr/>
        </p:nvGrpSpPr>
        <p:grpSpPr>
          <a:xfrm rot="0">
            <a:off x="10045915" y="3728184"/>
            <a:ext cx="502056" cy="5020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525252"/>
            </a:solidFill>
          </p:spPr>
        </p:sp>
        <p:sp>
          <p:nvSpPr>
            <p:cNvPr name="TextBox 9" id="9"/>
            <p:cNvSpPr txBox="true"/>
            <p:nvPr/>
          </p:nvSpPr>
          <p:spPr>
            <a:xfrm>
              <a:off x="127000" y="165100"/>
              <a:ext cx="558800" cy="520700"/>
            </a:xfrm>
            <a:prstGeom prst="rect">
              <a:avLst/>
            </a:prstGeom>
          </p:spPr>
          <p:txBody>
            <a:bodyPr anchor="ctr" rtlCol="false" tIns="50800" lIns="50800" bIns="50800" rIns="50800"/>
            <a:lstStyle/>
            <a:p>
              <a:pPr algn="ctr">
                <a:lnSpc>
                  <a:spcPts val="2266"/>
                </a:lnSpc>
              </a:pPr>
            </a:p>
          </p:txBody>
        </p:sp>
      </p:grpSp>
      <p:grpSp>
        <p:nvGrpSpPr>
          <p:cNvPr name="Group 10" id="10"/>
          <p:cNvGrpSpPr/>
          <p:nvPr/>
        </p:nvGrpSpPr>
        <p:grpSpPr>
          <a:xfrm rot="0">
            <a:off x="5771316" y="3728184"/>
            <a:ext cx="502056" cy="50205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525252"/>
            </a:solidFill>
            <a:ln cap="sq">
              <a:noFill/>
              <a:prstDash val="solid"/>
              <a:miter/>
            </a:ln>
          </p:spPr>
        </p:sp>
        <p:sp>
          <p:nvSpPr>
            <p:cNvPr name="TextBox 12" id="12"/>
            <p:cNvSpPr txBox="true"/>
            <p:nvPr/>
          </p:nvSpPr>
          <p:spPr>
            <a:xfrm>
              <a:off x="127000" y="165100"/>
              <a:ext cx="558800" cy="520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3" id="13"/>
          <p:cNvGrpSpPr/>
          <p:nvPr/>
        </p:nvGrpSpPr>
        <p:grpSpPr>
          <a:xfrm rot="0">
            <a:off x="1496717" y="3728184"/>
            <a:ext cx="502056" cy="50205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525252"/>
            </a:solidFill>
          </p:spPr>
        </p:sp>
        <p:sp>
          <p:nvSpPr>
            <p:cNvPr name="TextBox 15" id="15"/>
            <p:cNvSpPr txBox="true"/>
            <p:nvPr/>
          </p:nvSpPr>
          <p:spPr>
            <a:xfrm>
              <a:off x="127000" y="165100"/>
              <a:ext cx="558800" cy="520700"/>
            </a:xfrm>
            <a:prstGeom prst="rect">
              <a:avLst/>
            </a:prstGeom>
          </p:spPr>
          <p:txBody>
            <a:bodyPr anchor="ctr" rtlCol="false" tIns="50800" lIns="50800" bIns="50800" rIns="50800"/>
            <a:lstStyle/>
            <a:p>
              <a:pPr algn="ctr">
                <a:lnSpc>
                  <a:spcPts val="2266"/>
                </a:lnSpc>
              </a:pPr>
            </a:p>
          </p:txBody>
        </p:sp>
      </p:grpSp>
      <p:sp>
        <p:nvSpPr>
          <p:cNvPr name="Freeform 16" id="16"/>
          <p:cNvSpPr/>
          <p:nvPr/>
        </p:nvSpPr>
        <p:spPr>
          <a:xfrm flipH="false" flipV="false" rot="0">
            <a:off x="16027349" y="8292256"/>
            <a:ext cx="3020519" cy="2793980"/>
          </a:xfrm>
          <a:custGeom>
            <a:avLst/>
            <a:gdLst/>
            <a:ahLst/>
            <a:cxnLst/>
            <a:rect r="r" b="b" t="t" l="l"/>
            <a:pathLst>
              <a:path h="2793980" w="3020519">
                <a:moveTo>
                  <a:pt x="0" y="0"/>
                </a:moveTo>
                <a:lnTo>
                  <a:pt x="3020519" y="0"/>
                </a:lnTo>
                <a:lnTo>
                  <a:pt x="3020519" y="2793980"/>
                </a:lnTo>
                <a:lnTo>
                  <a:pt x="0" y="2793980"/>
                </a:lnTo>
                <a:lnTo>
                  <a:pt x="0" y="0"/>
                </a:lnTo>
                <a:close/>
              </a:path>
            </a:pathLst>
          </a:custGeom>
          <a:blipFill>
            <a:blip r:embed="rId3"/>
            <a:stretch>
              <a:fillRect l="0" t="0" r="0" b="0"/>
            </a:stretch>
          </a:blipFill>
        </p:spPr>
      </p:sp>
      <p:sp>
        <p:nvSpPr>
          <p:cNvPr name="Freeform 17" id="17"/>
          <p:cNvSpPr/>
          <p:nvPr/>
        </p:nvSpPr>
        <p:spPr>
          <a:xfrm flipH="false" flipV="false" rot="2523674">
            <a:off x="8574628" y="8547243"/>
            <a:ext cx="3966278" cy="3822501"/>
          </a:xfrm>
          <a:custGeom>
            <a:avLst/>
            <a:gdLst/>
            <a:ahLst/>
            <a:cxnLst/>
            <a:rect r="r" b="b" t="t" l="l"/>
            <a:pathLst>
              <a:path h="3822501" w="3966278">
                <a:moveTo>
                  <a:pt x="0" y="0"/>
                </a:moveTo>
                <a:lnTo>
                  <a:pt x="3966278" y="0"/>
                </a:lnTo>
                <a:lnTo>
                  <a:pt x="3966278" y="3822501"/>
                </a:lnTo>
                <a:lnTo>
                  <a:pt x="0" y="3822501"/>
                </a:lnTo>
                <a:lnTo>
                  <a:pt x="0" y="0"/>
                </a:lnTo>
                <a:close/>
              </a:path>
            </a:pathLst>
          </a:custGeom>
          <a:blipFill>
            <a:blip r:embed="rId4"/>
            <a:stretch>
              <a:fillRect l="0" t="0" r="0" b="0"/>
            </a:stretch>
          </a:blipFill>
        </p:spPr>
      </p:sp>
      <p:sp>
        <p:nvSpPr>
          <p:cNvPr name="Freeform 18" id="18"/>
          <p:cNvSpPr/>
          <p:nvPr/>
        </p:nvSpPr>
        <p:spPr>
          <a:xfrm flipH="false" flipV="false" rot="0">
            <a:off x="3083439" y="9151851"/>
            <a:ext cx="4283445" cy="2039991"/>
          </a:xfrm>
          <a:custGeom>
            <a:avLst/>
            <a:gdLst/>
            <a:ahLst/>
            <a:cxnLst/>
            <a:rect r="r" b="b" t="t" l="l"/>
            <a:pathLst>
              <a:path h="2039991" w="4283445">
                <a:moveTo>
                  <a:pt x="0" y="0"/>
                </a:moveTo>
                <a:lnTo>
                  <a:pt x="4283444" y="0"/>
                </a:lnTo>
                <a:lnTo>
                  <a:pt x="4283444" y="2039990"/>
                </a:lnTo>
                <a:lnTo>
                  <a:pt x="0" y="2039990"/>
                </a:lnTo>
                <a:lnTo>
                  <a:pt x="0" y="0"/>
                </a:lnTo>
                <a:close/>
              </a:path>
            </a:pathLst>
          </a:custGeom>
          <a:blipFill>
            <a:blip r:embed="rId5"/>
            <a:stretch>
              <a:fillRect l="0" t="0" r="0" b="0"/>
            </a:stretch>
          </a:blipFill>
        </p:spPr>
      </p:sp>
      <p:sp>
        <p:nvSpPr>
          <p:cNvPr name="Freeform 19" id="19"/>
          <p:cNvSpPr/>
          <p:nvPr/>
        </p:nvSpPr>
        <p:spPr>
          <a:xfrm flipH="false" flipV="false" rot="0">
            <a:off x="-886757" y="-2855618"/>
            <a:ext cx="4468392" cy="4367853"/>
          </a:xfrm>
          <a:custGeom>
            <a:avLst/>
            <a:gdLst/>
            <a:ahLst/>
            <a:cxnLst/>
            <a:rect r="r" b="b" t="t" l="l"/>
            <a:pathLst>
              <a:path h="4367853" w="4468392">
                <a:moveTo>
                  <a:pt x="0" y="0"/>
                </a:moveTo>
                <a:lnTo>
                  <a:pt x="4468392" y="0"/>
                </a:lnTo>
                <a:lnTo>
                  <a:pt x="4468392" y="4367853"/>
                </a:lnTo>
                <a:lnTo>
                  <a:pt x="0" y="4367853"/>
                </a:lnTo>
                <a:lnTo>
                  <a:pt x="0" y="0"/>
                </a:lnTo>
                <a:close/>
              </a:path>
            </a:pathLst>
          </a:custGeom>
          <a:blipFill>
            <a:blip r:embed="rId6"/>
            <a:stretch>
              <a:fillRect l="0" t="0" r="0" b="0"/>
            </a:stretch>
          </a:blipFill>
        </p:spPr>
      </p:sp>
      <p:sp>
        <p:nvSpPr>
          <p:cNvPr name="Freeform 20" id="20"/>
          <p:cNvSpPr/>
          <p:nvPr/>
        </p:nvSpPr>
        <p:spPr>
          <a:xfrm flipH="false" flipV="false" rot="0">
            <a:off x="12518487" y="-1606223"/>
            <a:ext cx="3102866" cy="3118458"/>
          </a:xfrm>
          <a:custGeom>
            <a:avLst/>
            <a:gdLst/>
            <a:ahLst/>
            <a:cxnLst/>
            <a:rect r="r" b="b" t="t" l="l"/>
            <a:pathLst>
              <a:path h="3118458" w="3102866">
                <a:moveTo>
                  <a:pt x="0" y="0"/>
                </a:moveTo>
                <a:lnTo>
                  <a:pt x="3102866" y="0"/>
                </a:lnTo>
                <a:lnTo>
                  <a:pt x="3102866" y="3118458"/>
                </a:lnTo>
                <a:lnTo>
                  <a:pt x="0" y="3118458"/>
                </a:lnTo>
                <a:lnTo>
                  <a:pt x="0" y="0"/>
                </a:lnTo>
                <a:close/>
              </a:path>
            </a:pathLst>
          </a:custGeom>
          <a:blipFill>
            <a:blip r:embed="rId7"/>
            <a:stretch>
              <a:fillRect l="0" t="0" r="0" b="0"/>
            </a:stretch>
          </a:blipFill>
        </p:spPr>
      </p:sp>
      <p:sp>
        <p:nvSpPr>
          <p:cNvPr name="Freeform 21" id="21"/>
          <p:cNvSpPr/>
          <p:nvPr/>
        </p:nvSpPr>
        <p:spPr>
          <a:xfrm flipH="false" flipV="false" rot="-10800000">
            <a:off x="16027349" y="-1201274"/>
            <a:ext cx="4270056" cy="3746974"/>
          </a:xfrm>
          <a:custGeom>
            <a:avLst/>
            <a:gdLst/>
            <a:ahLst/>
            <a:cxnLst/>
            <a:rect r="r" b="b" t="t" l="l"/>
            <a:pathLst>
              <a:path h="3746974" w="4270056">
                <a:moveTo>
                  <a:pt x="0" y="0"/>
                </a:moveTo>
                <a:lnTo>
                  <a:pt x="4270055" y="0"/>
                </a:lnTo>
                <a:lnTo>
                  <a:pt x="4270055" y="3746974"/>
                </a:lnTo>
                <a:lnTo>
                  <a:pt x="0" y="3746974"/>
                </a:lnTo>
                <a:lnTo>
                  <a:pt x="0" y="0"/>
                </a:lnTo>
                <a:close/>
              </a:path>
            </a:pathLst>
          </a:custGeom>
          <a:blipFill>
            <a:blip r:embed="rId8"/>
            <a:stretch>
              <a:fillRect l="0" t="0" r="0" b="0"/>
            </a:stretch>
          </a:blipFill>
        </p:spPr>
      </p:sp>
      <p:sp>
        <p:nvSpPr>
          <p:cNvPr name="TextBox 22" id="22"/>
          <p:cNvSpPr txBox="true"/>
          <p:nvPr/>
        </p:nvSpPr>
        <p:spPr>
          <a:xfrm rot="0">
            <a:off x="1496717" y="4529836"/>
            <a:ext cx="2197323" cy="669926"/>
          </a:xfrm>
          <a:prstGeom prst="rect">
            <a:avLst/>
          </a:prstGeom>
        </p:spPr>
        <p:txBody>
          <a:bodyPr anchor="t" rtlCol="false" tIns="0" lIns="0" bIns="0" rIns="0">
            <a:spAutoFit/>
          </a:bodyPr>
          <a:lstStyle/>
          <a:p>
            <a:pPr algn="l">
              <a:lnSpc>
                <a:spcPts val="5150"/>
              </a:lnSpc>
            </a:pPr>
            <a:r>
              <a:rPr lang="en-US" sz="5000">
                <a:solidFill>
                  <a:srgbClr val="525252"/>
                </a:solidFill>
                <a:latin typeface="Montserrat"/>
                <a:ea typeface="Montserrat"/>
                <a:cs typeface="Montserrat"/>
                <a:sym typeface="Montserrat"/>
              </a:rPr>
              <a:t>1</a:t>
            </a:r>
          </a:p>
        </p:txBody>
      </p:sp>
      <p:sp>
        <p:nvSpPr>
          <p:cNvPr name="TextBox 23" id="23"/>
          <p:cNvSpPr txBox="true"/>
          <p:nvPr/>
        </p:nvSpPr>
        <p:spPr>
          <a:xfrm rot="0">
            <a:off x="5789618" y="4529836"/>
            <a:ext cx="2197323" cy="669926"/>
          </a:xfrm>
          <a:prstGeom prst="rect">
            <a:avLst/>
          </a:prstGeom>
        </p:spPr>
        <p:txBody>
          <a:bodyPr anchor="t" rtlCol="false" tIns="0" lIns="0" bIns="0" rIns="0">
            <a:spAutoFit/>
          </a:bodyPr>
          <a:lstStyle/>
          <a:p>
            <a:pPr algn="l">
              <a:lnSpc>
                <a:spcPts val="5150"/>
              </a:lnSpc>
            </a:pPr>
            <a:r>
              <a:rPr lang="en-US" sz="5000">
                <a:solidFill>
                  <a:srgbClr val="525252"/>
                </a:solidFill>
                <a:latin typeface="Montserrat"/>
                <a:ea typeface="Montserrat"/>
                <a:cs typeface="Montserrat"/>
                <a:sym typeface="Montserrat"/>
              </a:rPr>
              <a:t>2</a:t>
            </a:r>
          </a:p>
        </p:txBody>
      </p:sp>
      <p:sp>
        <p:nvSpPr>
          <p:cNvPr name="TextBox 24" id="24"/>
          <p:cNvSpPr txBox="true"/>
          <p:nvPr/>
        </p:nvSpPr>
        <p:spPr>
          <a:xfrm rot="0">
            <a:off x="10082520" y="4529836"/>
            <a:ext cx="2197323" cy="669926"/>
          </a:xfrm>
          <a:prstGeom prst="rect">
            <a:avLst/>
          </a:prstGeom>
        </p:spPr>
        <p:txBody>
          <a:bodyPr anchor="t" rtlCol="false" tIns="0" lIns="0" bIns="0" rIns="0">
            <a:spAutoFit/>
          </a:bodyPr>
          <a:lstStyle/>
          <a:p>
            <a:pPr algn="l">
              <a:lnSpc>
                <a:spcPts val="5150"/>
              </a:lnSpc>
            </a:pPr>
            <a:r>
              <a:rPr lang="en-US" sz="5000">
                <a:solidFill>
                  <a:srgbClr val="525252"/>
                </a:solidFill>
                <a:latin typeface="Montserrat"/>
                <a:ea typeface="Montserrat"/>
                <a:cs typeface="Montserrat"/>
                <a:sym typeface="Montserrat"/>
              </a:rPr>
              <a:t>3</a:t>
            </a:r>
          </a:p>
        </p:txBody>
      </p:sp>
      <p:sp>
        <p:nvSpPr>
          <p:cNvPr name="TextBox 25" id="25"/>
          <p:cNvSpPr txBox="true"/>
          <p:nvPr/>
        </p:nvSpPr>
        <p:spPr>
          <a:xfrm rot="0">
            <a:off x="14318712" y="4529836"/>
            <a:ext cx="2197323" cy="669926"/>
          </a:xfrm>
          <a:prstGeom prst="rect">
            <a:avLst/>
          </a:prstGeom>
        </p:spPr>
        <p:txBody>
          <a:bodyPr anchor="t" rtlCol="false" tIns="0" lIns="0" bIns="0" rIns="0">
            <a:spAutoFit/>
          </a:bodyPr>
          <a:lstStyle/>
          <a:p>
            <a:pPr algn="l">
              <a:lnSpc>
                <a:spcPts val="5150"/>
              </a:lnSpc>
            </a:pPr>
            <a:r>
              <a:rPr lang="en-US" sz="5000">
                <a:solidFill>
                  <a:srgbClr val="525252"/>
                </a:solidFill>
                <a:latin typeface="Montserrat"/>
                <a:ea typeface="Montserrat"/>
                <a:cs typeface="Montserrat"/>
                <a:sym typeface="Montserrat"/>
              </a:rPr>
              <a:t>4</a:t>
            </a:r>
          </a:p>
        </p:txBody>
      </p:sp>
      <p:sp>
        <p:nvSpPr>
          <p:cNvPr name="TextBox 26" id="26"/>
          <p:cNvSpPr txBox="true"/>
          <p:nvPr/>
        </p:nvSpPr>
        <p:spPr>
          <a:xfrm rot="0">
            <a:off x="5771316" y="5237861"/>
            <a:ext cx="3653872" cy="1924050"/>
          </a:xfrm>
          <a:prstGeom prst="rect">
            <a:avLst/>
          </a:prstGeom>
        </p:spPr>
        <p:txBody>
          <a:bodyPr anchor="t" rtlCol="false" tIns="0" lIns="0" bIns="0" rIns="0">
            <a:spAutoFit/>
          </a:bodyPr>
          <a:lstStyle/>
          <a:p>
            <a:pPr algn="l">
              <a:lnSpc>
                <a:spcPts val="7800"/>
              </a:lnSpc>
            </a:pPr>
            <a:r>
              <a:rPr lang="en-US" sz="5000" b="true">
                <a:solidFill>
                  <a:srgbClr val="525252"/>
                </a:solidFill>
                <a:latin typeface="Montserrat Medium"/>
                <a:ea typeface="Montserrat Medium"/>
                <a:cs typeface="Montserrat Medium"/>
                <a:sym typeface="Montserrat Medium"/>
              </a:rPr>
              <a:t>Các câu truy vấn</a:t>
            </a:r>
          </a:p>
        </p:txBody>
      </p:sp>
      <p:sp>
        <p:nvSpPr>
          <p:cNvPr name="TextBox 27" id="27"/>
          <p:cNvSpPr txBox="true"/>
          <p:nvPr/>
        </p:nvSpPr>
        <p:spPr>
          <a:xfrm rot="0">
            <a:off x="10045915" y="5237861"/>
            <a:ext cx="2817118" cy="1924050"/>
          </a:xfrm>
          <a:prstGeom prst="rect">
            <a:avLst/>
          </a:prstGeom>
        </p:spPr>
        <p:txBody>
          <a:bodyPr anchor="t" rtlCol="false" tIns="0" lIns="0" bIns="0" rIns="0">
            <a:spAutoFit/>
          </a:bodyPr>
          <a:lstStyle/>
          <a:p>
            <a:pPr algn="l">
              <a:lnSpc>
                <a:spcPts val="7800"/>
              </a:lnSpc>
            </a:pPr>
            <a:r>
              <a:rPr lang="en-US" sz="5000" b="true">
                <a:solidFill>
                  <a:srgbClr val="525252"/>
                </a:solidFill>
                <a:latin typeface="Montserrat Medium"/>
                <a:ea typeface="Montserrat Medium"/>
                <a:cs typeface="Montserrat Medium"/>
                <a:sym typeface="Montserrat Medium"/>
              </a:rPr>
              <a:t>Các </a:t>
            </a:r>
          </a:p>
          <a:p>
            <a:pPr algn="l">
              <a:lnSpc>
                <a:spcPts val="7800"/>
              </a:lnSpc>
            </a:pPr>
            <a:r>
              <a:rPr lang="en-US" sz="5000" b="true">
                <a:solidFill>
                  <a:srgbClr val="525252"/>
                </a:solidFill>
                <a:latin typeface="Montserrat Medium"/>
                <a:ea typeface="Montserrat Medium"/>
                <a:cs typeface="Montserrat Medium"/>
                <a:sym typeface="Montserrat Medium"/>
              </a:rPr>
              <a:t>báo biểu</a:t>
            </a:r>
          </a:p>
        </p:txBody>
      </p:sp>
      <p:sp>
        <p:nvSpPr>
          <p:cNvPr name="TextBox 28" id="28"/>
          <p:cNvSpPr txBox="true"/>
          <p:nvPr/>
        </p:nvSpPr>
        <p:spPr>
          <a:xfrm rot="0">
            <a:off x="14318712" y="5237861"/>
            <a:ext cx="3218897" cy="1924050"/>
          </a:xfrm>
          <a:prstGeom prst="rect">
            <a:avLst/>
          </a:prstGeom>
        </p:spPr>
        <p:txBody>
          <a:bodyPr anchor="t" rtlCol="false" tIns="0" lIns="0" bIns="0" rIns="0">
            <a:spAutoFit/>
          </a:bodyPr>
          <a:lstStyle/>
          <a:p>
            <a:pPr algn="l">
              <a:lnSpc>
                <a:spcPts val="7800"/>
              </a:lnSpc>
            </a:pPr>
            <a:r>
              <a:rPr lang="en-US" sz="5000" b="true">
                <a:solidFill>
                  <a:srgbClr val="525252"/>
                </a:solidFill>
                <a:latin typeface="Montserrat Medium"/>
                <a:ea typeface="Montserrat Medium"/>
                <a:cs typeface="Montserrat Medium"/>
                <a:sym typeface="Montserrat Medium"/>
              </a:rPr>
              <a:t>Khai thác dữ liệu</a:t>
            </a:r>
          </a:p>
        </p:txBody>
      </p:sp>
      <p:sp>
        <p:nvSpPr>
          <p:cNvPr name="TextBox 29" id="29"/>
          <p:cNvSpPr txBox="true"/>
          <p:nvPr/>
        </p:nvSpPr>
        <p:spPr>
          <a:xfrm rot="0">
            <a:off x="1496717" y="5237861"/>
            <a:ext cx="3264949" cy="1924050"/>
          </a:xfrm>
          <a:prstGeom prst="rect">
            <a:avLst/>
          </a:prstGeom>
        </p:spPr>
        <p:txBody>
          <a:bodyPr anchor="t" rtlCol="false" tIns="0" lIns="0" bIns="0" rIns="0">
            <a:spAutoFit/>
          </a:bodyPr>
          <a:lstStyle/>
          <a:p>
            <a:pPr algn="l">
              <a:lnSpc>
                <a:spcPts val="7800"/>
              </a:lnSpc>
            </a:pPr>
            <a:r>
              <a:rPr lang="en-US" sz="5000" b="true">
                <a:solidFill>
                  <a:srgbClr val="525252"/>
                </a:solidFill>
                <a:latin typeface="Montserrat Medium"/>
                <a:ea typeface="Montserrat Medium"/>
                <a:cs typeface="Montserrat Medium"/>
                <a:sym typeface="Montserrat Medium"/>
              </a:rPr>
              <a:t>Sơ lược về bộ dữ liệu</a:t>
            </a:r>
          </a:p>
        </p:txBody>
      </p:sp>
      <p:sp>
        <p:nvSpPr>
          <p:cNvPr name="TextBox 30" id="30"/>
          <p:cNvSpPr txBox="true"/>
          <p:nvPr/>
        </p:nvSpPr>
        <p:spPr>
          <a:xfrm rot="0">
            <a:off x="5121116" y="1715234"/>
            <a:ext cx="8045768" cy="1358899"/>
          </a:xfrm>
          <a:prstGeom prst="rect">
            <a:avLst/>
          </a:prstGeom>
        </p:spPr>
        <p:txBody>
          <a:bodyPr anchor="t" rtlCol="false" tIns="0" lIns="0" bIns="0" rIns="0">
            <a:spAutoFit/>
          </a:bodyPr>
          <a:lstStyle/>
          <a:p>
            <a:pPr algn="ctr">
              <a:lnSpc>
                <a:spcPts val="10299"/>
              </a:lnSpc>
              <a:spcBef>
                <a:spcPct val="0"/>
              </a:spcBef>
            </a:pPr>
            <a:r>
              <a:rPr lang="en-US" sz="9999">
                <a:solidFill>
                  <a:srgbClr val="525252"/>
                </a:solidFill>
                <a:latin typeface="Open Sans Extra Bold"/>
                <a:ea typeface="Open Sans Extra Bold"/>
                <a:cs typeface="Open Sans Extra Bold"/>
                <a:sym typeface="Open Sans Extra Bold"/>
              </a:rPr>
              <a:t>TỔNG QUAN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marL="2158995" indent="-1079497" lvl="1">
              <a:lnSpc>
                <a:spcPts val="13099"/>
              </a:lnSpc>
              <a:spcBef>
                <a:spcPct val="0"/>
              </a:spcBef>
              <a:buAutoNum type="arabicPeriod" startAt="1"/>
            </a:pPr>
            <a:r>
              <a:rPr lang="en-US" sz="9999">
                <a:solidFill>
                  <a:srgbClr val="404040"/>
                </a:solidFill>
                <a:latin typeface="Open Sans Extra Bold"/>
                <a:ea typeface="Open Sans Extra Bold"/>
                <a:cs typeface="Open Sans Extra Bold"/>
                <a:sym typeface="Open Sans Extra Bold"/>
              </a:rPr>
              <a:t>SƠ LƯỢC VỀ BỘ DỮ LIỆU</a:t>
            </a:r>
          </a:p>
        </p:txBody>
      </p:sp>
      <p:sp>
        <p:nvSpPr>
          <p:cNvPr name="TextBox 4" id="4"/>
          <p:cNvSpPr txBox="true"/>
          <p:nvPr/>
        </p:nvSpPr>
        <p:spPr>
          <a:xfrm rot="0">
            <a:off x="1234613" y="2789555"/>
            <a:ext cx="15818774" cy="4180841"/>
          </a:xfrm>
          <a:prstGeom prst="rect">
            <a:avLst/>
          </a:prstGeom>
        </p:spPr>
        <p:txBody>
          <a:bodyPr anchor="t" rtlCol="false" tIns="0" lIns="0" bIns="0" rIns="0">
            <a:spAutoFit/>
          </a:bodyPr>
          <a:lstStyle/>
          <a:p>
            <a:pPr algn="l" marL="734055" indent="-367027" lvl="1">
              <a:lnSpc>
                <a:spcPts val="4759"/>
              </a:lnSpc>
              <a:buFont typeface="Arial"/>
              <a:buChar char="•"/>
            </a:pPr>
            <a:r>
              <a:rPr lang="en-US" b="true" sz="3399">
                <a:solidFill>
                  <a:srgbClr val="404040"/>
                </a:solidFill>
                <a:latin typeface="Montserrat Medium"/>
                <a:ea typeface="Montserrat Medium"/>
                <a:cs typeface="Montserrat Medium"/>
                <a:sym typeface="Montserrat Medium"/>
              </a:rPr>
              <a:t>Tên bộ dữ liệu: TMDB Road Accident Casualties.</a:t>
            </a:r>
          </a:p>
          <a:p>
            <a:pPr algn="l" marL="734055" indent="-367027" lvl="1">
              <a:lnSpc>
                <a:spcPts val="4759"/>
              </a:lnSpc>
              <a:buFont typeface="Arial"/>
              <a:buChar char="•"/>
            </a:pPr>
            <a:r>
              <a:rPr lang="en-US" b="true" sz="3399">
                <a:solidFill>
                  <a:srgbClr val="404040"/>
                </a:solidFill>
                <a:latin typeface="Montserrat Medium"/>
                <a:ea typeface="Montserrat Medium"/>
                <a:cs typeface="Montserrat Medium"/>
                <a:sym typeface="Montserrat Medium"/>
              </a:rPr>
              <a:t>Tác giả: Sheen.</a:t>
            </a:r>
          </a:p>
          <a:p>
            <a:pPr algn="l" marL="734055" indent="-367027" lvl="1">
              <a:lnSpc>
                <a:spcPts val="4759"/>
              </a:lnSpc>
              <a:buFont typeface="Arial"/>
              <a:buChar char="•"/>
            </a:pPr>
            <a:r>
              <a:rPr lang="en-US" b="true" sz="3399">
                <a:solidFill>
                  <a:srgbClr val="404040"/>
                </a:solidFill>
                <a:latin typeface="Montserrat Medium"/>
                <a:ea typeface="Montserrat Medium"/>
                <a:cs typeface="Montserrat Medium"/>
                <a:sym typeface="Montserrat Medium"/>
              </a:rPr>
              <a:t>Bộ dữ liệu bao gồm các chi tiết cần thiết về các vụ tai nạn như nơi xảy ra, điều kiện ánh sáng, điều kiện thời tiết, vị trí, phương tiện nơi xảy ra tai nạn,... cung cấp nền tảng cho các dự án phân tích đa dạng, từ phân tích xu hướng đến hệ thống đề xuất.</a:t>
            </a:r>
          </a:p>
          <a:p>
            <a:pPr algn="l" marL="734055" indent="-367027" lvl="1">
              <a:lnSpc>
                <a:spcPts val="4759"/>
              </a:lnSpc>
              <a:spcBef>
                <a:spcPct val="0"/>
              </a:spcBef>
              <a:buFont typeface="Arial"/>
              <a:buChar char="•"/>
            </a:pPr>
            <a:r>
              <a:rPr lang="en-US" b="true" sz="3399">
                <a:solidFill>
                  <a:srgbClr val="404040"/>
                </a:solidFill>
                <a:latin typeface="Montserrat Medium"/>
                <a:ea typeface="Montserrat Medium"/>
                <a:cs typeface="Montserrat Medium"/>
                <a:sym typeface="Montserrat Medium"/>
              </a:rPr>
              <a:t>Gồm 660680 dòng và 14 thuộc tính.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spcBef>
                <a:spcPct val="0"/>
              </a:spcBef>
            </a:pPr>
            <a:r>
              <a:rPr lang="en-US" sz="9999">
                <a:solidFill>
                  <a:srgbClr val="404040"/>
                </a:solidFill>
                <a:latin typeface="Open Sans Extra Bold"/>
                <a:ea typeface="Open Sans Extra Bold"/>
                <a:cs typeface="Open Sans Extra Bold"/>
                <a:sym typeface="Open Sans Extra Bold"/>
              </a:rPr>
              <a:t>Ý NGHĨA CỦA THUỘC TÍNH</a:t>
            </a:r>
          </a:p>
        </p:txBody>
      </p:sp>
      <p:sp>
        <p:nvSpPr>
          <p:cNvPr name="TextBox 4" id="4"/>
          <p:cNvSpPr txBox="true"/>
          <p:nvPr/>
        </p:nvSpPr>
        <p:spPr>
          <a:xfrm rot="0">
            <a:off x="1234613" y="2789555"/>
            <a:ext cx="15818774" cy="7181216"/>
          </a:xfrm>
          <a:prstGeom prst="rect">
            <a:avLst/>
          </a:prstGeom>
        </p:spPr>
        <p:txBody>
          <a:bodyPr anchor="t" rtlCol="false" tIns="0" lIns="0" bIns="0" rIns="0">
            <a:spAutoFit/>
          </a:bodyPr>
          <a:lstStyle/>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Index:</a:t>
            </a:r>
            <a:r>
              <a:rPr lang="en-US" sz="3399">
                <a:solidFill>
                  <a:srgbClr val="404040"/>
                </a:solidFill>
                <a:latin typeface="Montserrat"/>
                <a:ea typeface="Montserrat"/>
                <a:cs typeface="Montserrat"/>
                <a:sym typeface="Montserrat"/>
              </a:rPr>
              <a:t> Mã định danh duy nhất cho từng vụ tai nạn.</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Accident_Severity:</a:t>
            </a:r>
            <a:r>
              <a:rPr lang="en-US" sz="3399">
                <a:solidFill>
                  <a:srgbClr val="404040"/>
                </a:solidFill>
                <a:latin typeface="Montserrat"/>
                <a:ea typeface="Montserrat"/>
                <a:cs typeface="Montserrat"/>
                <a:sym typeface="Montserrat"/>
              </a:rPr>
              <a:t> Mức độ nghiêm trọng của vụ tai nạn: Slight, Serious, Fatal. </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Accident Date:</a:t>
            </a:r>
            <a:r>
              <a:rPr lang="en-US" sz="3399">
                <a:solidFill>
                  <a:srgbClr val="404040"/>
                </a:solidFill>
                <a:latin typeface="Montserrat"/>
                <a:ea typeface="Montserrat"/>
                <a:cs typeface="Montserrat"/>
                <a:sym typeface="Montserrat"/>
              </a:rPr>
              <a:t> Ngày xảy ra vụ tai nạn.</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Latitude:</a:t>
            </a:r>
            <a:r>
              <a:rPr lang="en-US" sz="3399">
                <a:solidFill>
                  <a:srgbClr val="404040"/>
                </a:solidFill>
                <a:latin typeface="Montserrat"/>
                <a:ea typeface="Montserrat"/>
                <a:cs typeface="Montserrat"/>
                <a:sym typeface="Montserrat"/>
              </a:rPr>
              <a:t> Vĩ độ nơi xảy ra tai nạn.</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Longitude:</a:t>
            </a:r>
            <a:r>
              <a:rPr lang="en-US" sz="3399">
                <a:solidFill>
                  <a:srgbClr val="404040"/>
                </a:solidFill>
                <a:latin typeface="Montserrat"/>
                <a:ea typeface="Montserrat"/>
                <a:cs typeface="Montserrat"/>
                <a:sym typeface="Montserrat"/>
              </a:rPr>
              <a:t> Kinh độ nơi xảy ra tai nạn. </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Light_Conditions:</a:t>
            </a:r>
            <a:r>
              <a:rPr lang="en-US" sz="3399">
                <a:solidFill>
                  <a:srgbClr val="404040"/>
                </a:solidFill>
                <a:latin typeface="Montserrat"/>
                <a:ea typeface="Montserrat"/>
                <a:cs typeface="Montserrat"/>
                <a:sym typeface="Montserrat"/>
              </a:rPr>
              <a:t> Điều kiện ánh sáng tại thời điểm tai nạn: Darkness - lights lit, Daylight, Darkness - no lighting, Darkness - lighting unknown.</a:t>
            </a:r>
          </a:p>
          <a:p>
            <a:pPr algn="l" marL="734055" indent="-367027" lvl="1">
              <a:lnSpc>
                <a:spcPts val="4759"/>
              </a:lnSpc>
              <a:buFont typeface="Arial"/>
              <a:buChar char="•"/>
            </a:pPr>
            <a:r>
              <a:rPr lang="en-US" b="true" sz="3399" i="true">
                <a:solidFill>
                  <a:srgbClr val="404040"/>
                </a:solidFill>
                <a:latin typeface="Montserrat Bold Italics"/>
                <a:ea typeface="Montserrat Bold Italics"/>
                <a:cs typeface="Montserrat Bold Italics"/>
                <a:sym typeface="Montserrat Bold Italics"/>
              </a:rPr>
              <a:t>District Area:</a:t>
            </a:r>
            <a:r>
              <a:rPr lang="en-US" sz="3399">
                <a:solidFill>
                  <a:srgbClr val="404040"/>
                </a:solidFill>
                <a:latin typeface="Montserrat"/>
                <a:ea typeface="Montserrat"/>
                <a:cs typeface="Montserrat"/>
                <a:sym typeface="Montserrat"/>
              </a:rPr>
              <a:t> Khu vực hành chính nơi xảy ra vụ tai nạn.</a:t>
            </a:r>
          </a:p>
          <a:p>
            <a:pPr algn="l" marL="734055" indent="-367027" lvl="1">
              <a:lnSpc>
                <a:spcPts val="4759"/>
              </a:lnSpc>
              <a:spcBef>
                <a:spcPct val="0"/>
              </a:spcBef>
              <a:buFont typeface="Arial"/>
              <a:buChar char="•"/>
            </a:pPr>
            <a:r>
              <a:rPr lang="en-US" b="true" sz="3399" i="true">
                <a:solidFill>
                  <a:srgbClr val="404040"/>
                </a:solidFill>
                <a:latin typeface="Montserrat Bold Italics"/>
                <a:ea typeface="Montserrat Bold Italics"/>
                <a:cs typeface="Montserrat Bold Italics"/>
                <a:sym typeface="Montserrat Bold Italics"/>
              </a:rPr>
              <a:t>Number_of_Casualties:</a:t>
            </a:r>
            <a:r>
              <a:rPr lang="en-US" sz="3399">
                <a:solidFill>
                  <a:srgbClr val="404040"/>
                </a:solidFill>
                <a:latin typeface="Montserrat"/>
                <a:ea typeface="Montserrat"/>
                <a:cs typeface="Montserrat"/>
                <a:sym typeface="Montserrat"/>
              </a:rPr>
              <a:t> Số người bị thương hoặc thiệt mạng trong vụ tai nạn.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spcBef>
                <a:spcPct val="0"/>
              </a:spcBef>
            </a:pPr>
            <a:r>
              <a:rPr lang="en-US" sz="9999">
                <a:solidFill>
                  <a:srgbClr val="404040"/>
                </a:solidFill>
                <a:latin typeface="Open Sans Extra Bold"/>
                <a:ea typeface="Open Sans Extra Bold"/>
                <a:cs typeface="Open Sans Extra Bold"/>
                <a:sym typeface="Open Sans Extra Bold"/>
              </a:rPr>
              <a:t>Ý NGHĨA CỦA THUỘC TÍNH</a:t>
            </a:r>
          </a:p>
        </p:txBody>
      </p:sp>
      <p:sp>
        <p:nvSpPr>
          <p:cNvPr name="TextBox 4" id="4"/>
          <p:cNvSpPr txBox="true"/>
          <p:nvPr/>
        </p:nvSpPr>
        <p:spPr>
          <a:xfrm rot="0">
            <a:off x="1234613" y="2789555"/>
            <a:ext cx="15818774" cy="6374131"/>
          </a:xfrm>
          <a:prstGeom prst="rect">
            <a:avLst/>
          </a:prstGeom>
        </p:spPr>
        <p:txBody>
          <a:bodyPr anchor="t" rtlCol="false" tIns="0" lIns="0" bIns="0" rIns="0">
            <a:spAutoFit/>
          </a:bodyPr>
          <a:lstStyle/>
          <a:p>
            <a:pPr algn="l" marL="712465" indent="-356233" lvl="1">
              <a:lnSpc>
                <a:spcPts val="4619"/>
              </a:lnSpc>
              <a:buFont typeface="Arial"/>
              <a:buChar char="•"/>
            </a:pPr>
            <a:r>
              <a:rPr lang="en-US" b="true" sz="3299" i="true">
                <a:solidFill>
                  <a:srgbClr val="404040"/>
                </a:solidFill>
                <a:latin typeface="Montserrat Bold Italics"/>
                <a:ea typeface="Montserrat Bold Italics"/>
                <a:cs typeface="Montserrat Bold Italics"/>
                <a:sym typeface="Montserrat Bold Italics"/>
              </a:rPr>
              <a:t>Number_of_Vehicles:</a:t>
            </a:r>
            <a:r>
              <a:rPr lang="en-US" sz="3299">
                <a:solidFill>
                  <a:srgbClr val="404040"/>
                </a:solidFill>
                <a:latin typeface="Montserrat"/>
                <a:ea typeface="Montserrat"/>
                <a:cs typeface="Montserrat"/>
                <a:sym typeface="Montserrat"/>
              </a:rPr>
              <a:t> Số lượng phương tiện liên quan đến vụ tai nạn.</a:t>
            </a:r>
            <a:r>
              <a:rPr lang="en-US" sz="3299">
                <a:solidFill>
                  <a:srgbClr val="404040"/>
                </a:solidFill>
                <a:latin typeface="Montserrat"/>
                <a:ea typeface="Montserrat"/>
                <a:cs typeface="Montserrat"/>
                <a:sym typeface="Montserrat"/>
              </a:rPr>
              <a:t> </a:t>
            </a:r>
          </a:p>
          <a:p>
            <a:pPr algn="l" marL="712465" indent="-356233" lvl="1">
              <a:lnSpc>
                <a:spcPts val="4619"/>
              </a:lnSpc>
              <a:buFont typeface="Arial"/>
              <a:buChar char="•"/>
            </a:pPr>
            <a:r>
              <a:rPr lang="en-US" b="true" sz="3299" i="true">
                <a:solidFill>
                  <a:srgbClr val="404040"/>
                </a:solidFill>
                <a:latin typeface="Montserrat Bold Italics"/>
                <a:ea typeface="Montserrat Bold Italics"/>
                <a:cs typeface="Montserrat Bold Italics"/>
                <a:sym typeface="Montserrat Bold Italics"/>
              </a:rPr>
              <a:t>Road_Surface_Conditions:</a:t>
            </a:r>
            <a:r>
              <a:rPr lang="en-US" sz="3299">
                <a:solidFill>
                  <a:srgbClr val="404040"/>
                </a:solidFill>
                <a:latin typeface="Montserrat"/>
                <a:ea typeface="Montserrat"/>
                <a:cs typeface="Montserrat"/>
                <a:sym typeface="Montserrat"/>
              </a:rPr>
              <a:t> Tình trạng bề mặt đường vào thời điểm xảy ra tai nạn: Dry, Wet or damp, Snow, Frost or ice, Flood over 3cm. deep.</a:t>
            </a:r>
          </a:p>
          <a:p>
            <a:pPr algn="l" marL="712465" indent="-356233" lvl="1">
              <a:lnSpc>
                <a:spcPts val="4619"/>
              </a:lnSpc>
              <a:buFont typeface="Arial"/>
              <a:buChar char="•"/>
            </a:pPr>
            <a:r>
              <a:rPr lang="en-US" b="true" sz="3299" i="true">
                <a:solidFill>
                  <a:srgbClr val="404040"/>
                </a:solidFill>
                <a:latin typeface="Montserrat Bold Italics"/>
                <a:ea typeface="Montserrat Bold Italics"/>
                <a:cs typeface="Montserrat Bold Italics"/>
                <a:sym typeface="Montserrat Bold Italics"/>
              </a:rPr>
              <a:t>Road_Type:</a:t>
            </a:r>
            <a:r>
              <a:rPr lang="en-US" sz="3299">
                <a:solidFill>
                  <a:srgbClr val="404040"/>
                </a:solidFill>
                <a:latin typeface="Montserrat"/>
                <a:ea typeface="Montserrat"/>
                <a:cs typeface="Montserrat"/>
                <a:sym typeface="Montserrat"/>
              </a:rPr>
              <a:t> Loại đường nơi xảy ra vụ tai nạn: Single carriageway, Dual carriageway, One way street, Roundabout, Slip road</a:t>
            </a:r>
          </a:p>
          <a:p>
            <a:pPr algn="l" marL="712465" indent="-356233" lvl="1">
              <a:lnSpc>
                <a:spcPts val="4619"/>
              </a:lnSpc>
              <a:buFont typeface="Arial"/>
              <a:buChar char="•"/>
            </a:pPr>
            <a:r>
              <a:rPr lang="en-US" b="true" sz="3299" i="true">
                <a:solidFill>
                  <a:srgbClr val="404040"/>
                </a:solidFill>
                <a:latin typeface="Montserrat Bold Italics"/>
                <a:ea typeface="Montserrat Bold Italics"/>
                <a:cs typeface="Montserrat Bold Italics"/>
                <a:sym typeface="Montserrat Bold Italics"/>
              </a:rPr>
              <a:t>Urban_or_Rural_Area:</a:t>
            </a:r>
            <a:r>
              <a:rPr lang="en-US" sz="3299">
                <a:solidFill>
                  <a:srgbClr val="404040"/>
                </a:solidFill>
                <a:latin typeface="Montserrat"/>
                <a:ea typeface="Montserrat"/>
                <a:cs typeface="Montserrat"/>
                <a:sym typeface="Montserrat"/>
              </a:rPr>
              <a:t> Phân loại khu vực là đô thị (Urban) hay nông thôn (Rural).</a:t>
            </a:r>
          </a:p>
          <a:p>
            <a:pPr algn="l" marL="712465" indent="-356233" lvl="1">
              <a:lnSpc>
                <a:spcPts val="4619"/>
              </a:lnSpc>
              <a:buFont typeface="Arial"/>
              <a:buChar char="•"/>
            </a:pPr>
            <a:r>
              <a:rPr lang="en-US" b="true" sz="3299" i="true">
                <a:solidFill>
                  <a:srgbClr val="404040"/>
                </a:solidFill>
                <a:latin typeface="Montserrat Bold Italics"/>
                <a:ea typeface="Montserrat Bold Italics"/>
                <a:cs typeface="Montserrat Bold Italics"/>
                <a:sym typeface="Montserrat Bold Italics"/>
              </a:rPr>
              <a:t>Weather_Conditions:</a:t>
            </a:r>
            <a:r>
              <a:rPr lang="en-US" sz="3299">
                <a:solidFill>
                  <a:srgbClr val="404040"/>
                </a:solidFill>
                <a:latin typeface="Montserrat"/>
                <a:ea typeface="Montserrat"/>
                <a:cs typeface="Montserrat"/>
                <a:sym typeface="Montserrat"/>
              </a:rPr>
              <a:t> Điều kiện thời tiết tại thời điểm xảy ra tai nạn: Fine no high winds, Raining no high winds, Snowing no high winds, Fine + high winds, Raining + high winds,Snowing + high winds, Other...</a:t>
            </a:r>
          </a:p>
          <a:p>
            <a:pPr algn="l" marL="712465" indent="-356233" lvl="1">
              <a:lnSpc>
                <a:spcPts val="4619"/>
              </a:lnSpc>
              <a:spcBef>
                <a:spcPct val="0"/>
              </a:spcBef>
              <a:buFont typeface="Arial"/>
              <a:buChar char="•"/>
            </a:pPr>
            <a:r>
              <a:rPr lang="en-US" b="true" sz="3299" i="true">
                <a:solidFill>
                  <a:srgbClr val="404040"/>
                </a:solidFill>
                <a:latin typeface="Montserrat Bold Italics"/>
                <a:ea typeface="Montserrat Bold Italics"/>
                <a:cs typeface="Montserrat Bold Italics"/>
                <a:sym typeface="Montserrat Bold Italics"/>
              </a:rPr>
              <a:t>Vehicle_Type:</a:t>
            </a:r>
            <a:r>
              <a:rPr lang="en-US" sz="3299">
                <a:solidFill>
                  <a:srgbClr val="404040"/>
                </a:solidFill>
                <a:latin typeface="Montserrat"/>
                <a:ea typeface="Montserrat"/>
                <a:cs typeface="Montserrat"/>
                <a:sym typeface="Montserrat"/>
              </a:rPr>
              <a:t> Loại phương tiện liên quan đến vụ tai nạn.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pPr>
            <a:r>
              <a:rPr lang="en-US" sz="9999">
                <a:solidFill>
                  <a:srgbClr val="404040"/>
                </a:solidFill>
                <a:latin typeface="Open Sans Extra Bold"/>
                <a:ea typeface="Open Sans Extra Bold"/>
                <a:cs typeface="Open Sans Extra Bold"/>
                <a:sym typeface="Open Sans Extra Bold"/>
              </a:rPr>
              <a:t>2. CÁC CÂU TRUY VẤN</a:t>
            </a:r>
          </a:p>
        </p:txBody>
      </p:sp>
      <p:sp>
        <p:nvSpPr>
          <p:cNvPr name="TextBox 4" id="4"/>
          <p:cNvSpPr txBox="true"/>
          <p:nvPr/>
        </p:nvSpPr>
        <p:spPr>
          <a:xfrm rot="0">
            <a:off x="1234613" y="2863386"/>
            <a:ext cx="15818774" cy="3580766"/>
          </a:xfrm>
          <a:prstGeom prst="rect">
            <a:avLst/>
          </a:prstGeom>
        </p:spPr>
        <p:txBody>
          <a:bodyPr anchor="t" rtlCol="false" tIns="0" lIns="0" bIns="0" rIns="0">
            <a:spAutoFit/>
          </a:bodyPr>
          <a:lstStyle/>
          <a:p>
            <a:pPr algn="l">
              <a:lnSpc>
                <a:spcPts val="4759"/>
              </a:lnSpc>
            </a:pPr>
          </a:p>
          <a:p>
            <a:pPr algn="l" marL="734055" indent="-367027" lvl="1">
              <a:lnSpc>
                <a:spcPts val="4759"/>
              </a:lnSpc>
              <a:buFont typeface="Arial"/>
              <a:buChar char="•"/>
            </a:pPr>
            <a:r>
              <a:rPr lang="en-US" sz="3399">
                <a:solidFill>
                  <a:srgbClr val="404040"/>
                </a:solidFill>
                <a:latin typeface="Montserrat"/>
                <a:ea typeface="Montserrat"/>
                <a:cs typeface="Montserrat"/>
                <a:sym typeface="Montserrat"/>
              </a:rPr>
              <a:t>Câu 1</a:t>
            </a:r>
            <a:r>
              <a:rPr lang="en-US" sz="3399">
                <a:solidFill>
                  <a:srgbClr val="404040"/>
                </a:solidFill>
                <a:latin typeface="Montserrat"/>
                <a:ea typeface="Montserrat"/>
                <a:cs typeface="Montserrat"/>
                <a:sym typeface="Montserrat"/>
              </a:rPr>
              <a:t>: Liệt kê top 10 khu vực có nhiều vụ tai nạn nhất, phân theo điều kiện mặt đường và loại phương tiện.</a:t>
            </a:r>
          </a:p>
          <a:p>
            <a:pPr algn="l" marL="734055" indent="-367027" lvl="1">
              <a:lnSpc>
                <a:spcPts val="4759"/>
              </a:lnSpc>
              <a:buFont typeface="Arial"/>
              <a:buChar char="•"/>
            </a:pPr>
            <a:r>
              <a:rPr lang="en-US" sz="3399">
                <a:solidFill>
                  <a:srgbClr val="404040"/>
                </a:solidFill>
                <a:latin typeface="Montserrat"/>
                <a:ea typeface="Montserrat"/>
                <a:cs typeface="Montserrat"/>
                <a:sym typeface="Montserrat"/>
              </a:rPr>
              <a:t>Câu 2: Xác định số vụ tai nạn theo các mức độ và tổng số người bị thương trong từng khu vực vào năm 2022.</a:t>
            </a:r>
          </a:p>
          <a:p>
            <a:pPr algn="l" marL="734055" indent="-367027" lvl="1">
              <a:lnSpc>
                <a:spcPts val="4759"/>
              </a:lnSpc>
              <a:spcBef>
                <a:spcPct val="0"/>
              </a:spcBef>
              <a:buFont typeface="Arial"/>
              <a:buChar char="•"/>
            </a:pPr>
            <a:r>
              <a:rPr lang="en-US" sz="3399">
                <a:solidFill>
                  <a:srgbClr val="404040"/>
                </a:solidFill>
                <a:latin typeface="Montserrat"/>
                <a:ea typeface="Montserrat"/>
                <a:cs typeface="Montserrat"/>
                <a:sym typeface="Montserrat"/>
              </a:rPr>
              <a:t>Câu 3: Top 3 khu vực có số tai nạn nhiều nhất trong các năm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881038" y="981075"/>
            <a:ext cx="15818774" cy="9582785"/>
          </a:xfrm>
          <a:prstGeom prst="rect">
            <a:avLst/>
          </a:prstGeom>
        </p:spPr>
        <p:txBody>
          <a:bodyPr anchor="t" rtlCol="false" tIns="0" lIns="0" bIns="0" rIns="0">
            <a:spAutoFit/>
          </a:bodyPr>
          <a:lstStyle/>
          <a:p>
            <a:pPr algn="l" marL="561339" indent="-280669" lvl="1">
              <a:lnSpc>
                <a:spcPts val="3639"/>
              </a:lnSpc>
              <a:buFont typeface="Arial"/>
              <a:buChar char="•"/>
            </a:pPr>
            <a:r>
              <a:rPr lang="en-US" b="true" sz="2599" i="true">
                <a:solidFill>
                  <a:srgbClr val="404040"/>
                </a:solidFill>
                <a:latin typeface="Montserrat Bold Italics"/>
                <a:ea typeface="Montserrat Bold Italics"/>
                <a:cs typeface="Montserrat Bold Italics"/>
                <a:sym typeface="Montserrat Bold Italics"/>
              </a:rPr>
              <a:t>Câu 1: Liệt kê top 10 khu vực có nhiều vụ tai nạn nhất, phân theo điều kiện mặt đường và loại phương tiện.</a:t>
            </a:r>
          </a:p>
          <a:p>
            <a:pPr algn="l">
              <a:lnSpc>
                <a:spcPts val="3639"/>
              </a:lnSpc>
            </a:pPr>
            <a:r>
              <a:rPr lang="en-US" sz="2599">
                <a:solidFill>
                  <a:srgbClr val="404040"/>
                </a:solidFill>
                <a:latin typeface="Montserrat"/>
                <a:ea typeface="Montserrat"/>
                <a:cs typeface="Montserrat"/>
                <a:sym typeface="Montserrat"/>
              </a:rPr>
              <a:t>SELECT  </a:t>
            </a:r>
          </a:p>
          <a:p>
            <a:pPr algn="l">
              <a:lnSpc>
                <a:spcPts val="3639"/>
              </a:lnSpc>
            </a:pPr>
            <a:r>
              <a:rPr lang="en-US" sz="2599">
                <a:solidFill>
                  <a:srgbClr val="404040"/>
                </a:solidFill>
                <a:latin typeface="Montserrat"/>
                <a:ea typeface="Montserrat"/>
                <a:cs typeface="Montserrat"/>
                <a:sym typeface="Montserrat"/>
              </a:rPr>
              <a:t>   {[Measures].[Fact Accident Count]} ON COLUMNS, </a:t>
            </a:r>
          </a:p>
          <a:p>
            <a:pPr algn="l">
              <a:lnSpc>
                <a:spcPts val="3639"/>
              </a:lnSpc>
            </a:pPr>
            <a:r>
              <a:rPr lang="en-US" sz="2599">
                <a:solidFill>
                  <a:srgbClr val="404040"/>
                </a:solidFill>
                <a:latin typeface="Montserrat"/>
                <a:ea typeface="Montserrat"/>
                <a:cs typeface="Montserrat"/>
                <a:sym typeface="Montserrat"/>
              </a:rPr>
              <a:t>   TOPCOUNT( </a:t>
            </a:r>
          </a:p>
          <a:p>
            <a:pPr algn="l">
              <a:lnSpc>
                <a:spcPts val="3639"/>
              </a:lnSpc>
            </a:pPr>
            <a:r>
              <a:rPr lang="en-US" sz="2599">
                <a:solidFill>
                  <a:srgbClr val="404040"/>
                </a:solidFill>
                <a:latin typeface="Montserrat"/>
                <a:ea typeface="Montserrat"/>
                <a:cs typeface="Montserrat"/>
                <a:sym typeface="Montserrat"/>
              </a:rPr>
              <a:t>       NONEMPTY( </a:t>
            </a:r>
          </a:p>
          <a:p>
            <a:pPr algn="l">
              <a:lnSpc>
                <a:spcPts val="3639"/>
              </a:lnSpc>
            </a:pPr>
            <a:r>
              <a:rPr lang="en-US" sz="2599">
                <a:solidFill>
                  <a:srgbClr val="404040"/>
                </a:solidFill>
                <a:latin typeface="Montserrat"/>
                <a:ea typeface="Montserrat"/>
                <a:cs typeface="Montserrat"/>
                <a:sym typeface="Montserrat"/>
              </a:rPr>
              <a:t>           CROSSJOIN( </a:t>
            </a:r>
          </a:p>
          <a:p>
            <a:pPr algn="l">
              <a:lnSpc>
                <a:spcPts val="3639"/>
              </a:lnSpc>
            </a:pPr>
            <a:r>
              <a:rPr lang="en-US" sz="2599">
                <a:solidFill>
                  <a:srgbClr val="404040"/>
                </a:solidFill>
                <a:latin typeface="Montserrat"/>
                <a:ea typeface="Montserrat"/>
                <a:cs typeface="Montserrat"/>
                <a:sym typeface="Montserrat"/>
              </a:rPr>
              <a:t>               {[DIM AREA].[AREA NAME].[AREA NAME].MEMBERS}, </a:t>
            </a:r>
          </a:p>
          <a:p>
            <a:pPr algn="l">
              <a:lnSpc>
                <a:spcPts val="3639"/>
              </a:lnSpc>
            </a:pPr>
            <a:r>
              <a:rPr lang="en-US" sz="2599">
                <a:solidFill>
                  <a:srgbClr val="404040"/>
                </a:solidFill>
                <a:latin typeface="Montserrat"/>
                <a:ea typeface="Montserrat"/>
                <a:cs typeface="Montserrat"/>
                <a:sym typeface="Montserrat"/>
              </a:rPr>
              <a:t>               CROSSJOIN( </a:t>
            </a:r>
          </a:p>
          <a:p>
            <a:pPr algn="l">
              <a:lnSpc>
                <a:spcPts val="3639"/>
              </a:lnSpc>
            </a:pPr>
            <a:r>
              <a:rPr lang="en-US" sz="2599">
                <a:solidFill>
                  <a:srgbClr val="404040"/>
                </a:solidFill>
                <a:latin typeface="Montserrat"/>
                <a:ea typeface="Montserrat"/>
                <a:cs typeface="Montserrat"/>
                <a:sym typeface="Montserrat"/>
              </a:rPr>
              <a:t>                   {[DIM ROAD SURFACE].[ROAD TYPE].[ROAD TYPE].MEMBERS}, </a:t>
            </a:r>
          </a:p>
          <a:p>
            <a:pPr algn="l">
              <a:lnSpc>
                <a:spcPts val="3639"/>
              </a:lnSpc>
            </a:pPr>
            <a:r>
              <a:rPr lang="en-US" sz="2599">
                <a:solidFill>
                  <a:srgbClr val="404040"/>
                </a:solidFill>
                <a:latin typeface="Montserrat"/>
                <a:ea typeface="Montserrat"/>
                <a:cs typeface="Montserrat"/>
                <a:sym typeface="Montserrat"/>
              </a:rPr>
              <a:t>                   {[DIM VEHICLE].[VEHICLE TYPE].[VEHICLE TYPE].MEMBERS} </a:t>
            </a:r>
          </a:p>
          <a:p>
            <a:pPr algn="l">
              <a:lnSpc>
                <a:spcPts val="3639"/>
              </a:lnSpc>
            </a:pPr>
            <a:r>
              <a:rPr lang="en-US" sz="2599">
                <a:solidFill>
                  <a:srgbClr val="404040"/>
                </a:solidFill>
                <a:latin typeface="Montserrat"/>
                <a:ea typeface="Montserrat"/>
                <a:cs typeface="Montserrat"/>
                <a:sym typeface="Montserrat"/>
              </a:rPr>
              <a:t>               ) </a:t>
            </a:r>
          </a:p>
          <a:p>
            <a:pPr algn="l">
              <a:lnSpc>
                <a:spcPts val="3639"/>
              </a:lnSpc>
            </a:pPr>
            <a:r>
              <a:rPr lang="en-US" sz="2599">
                <a:solidFill>
                  <a:srgbClr val="404040"/>
                </a:solidFill>
                <a:latin typeface="Montserrat"/>
                <a:ea typeface="Montserrat"/>
                <a:cs typeface="Montserrat"/>
                <a:sym typeface="Montserrat"/>
              </a:rPr>
              <a:t>           ), </a:t>
            </a:r>
          </a:p>
          <a:p>
            <a:pPr algn="l">
              <a:lnSpc>
                <a:spcPts val="3639"/>
              </a:lnSpc>
            </a:pPr>
            <a:r>
              <a:rPr lang="en-US" sz="2599">
                <a:solidFill>
                  <a:srgbClr val="404040"/>
                </a:solidFill>
                <a:latin typeface="Montserrat"/>
                <a:ea typeface="Montserrat"/>
                <a:cs typeface="Montserrat"/>
                <a:sym typeface="Montserrat"/>
              </a:rPr>
              <a:t>           [Measures].[Fact Accident Count] </a:t>
            </a:r>
          </a:p>
          <a:p>
            <a:pPr algn="l">
              <a:lnSpc>
                <a:spcPts val="3639"/>
              </a:lnSpc>
            </a:pPr>
            <a:r>
              <a:rPr lang="en-US" sz="2599">
                <a:solidFill>
                  <a:srgbClr val="404040"/>
                </a:solidFill>
                <a:latin typeface="Montserrat"/>
                <a:ea typeface="Montserrat"/>
                <a:cs typeface="Montserrat"/>
                <a:sym typeface="Montserrat"/>
              </a:rPr>
              <a:t>       ), </a:t>
            </a:r>
          </a:p>
          <a:p>
            <a:pPr algn="l">
              <a:lnSpc>
                <a:spcPts val="3639"/>
              </a:lnSpc>
            </a:pPr>
            <a:r>
              <a:rPr lang="en-US" sz="2599">
                <a:solidFill>
                  <a:srgbClr val="404040"/>
                </a:solidFill>
                <a:latin typeface="Montserrat"/>
                <a:ea typeface="Montserrat"/>
                <a:cs typeface="Montserrat"/>
                <a:sym typeface="Montserrat"/>
              </a:rPr>
              <a:t>       10, </a:t>
            </a:r>
          </a:p>
          <a:p>
            <a:pPr algn="l">
              <a:lnSpc>
                <a:spcPts val="3639"/>
              </a:lnSpc>
            </a:pPr>
            <a:r>
              <a:rPr lang="en-US" sz="2599">
                <a:solidFill>
                  <a:srgbClr val="404040"/>
                </a:solidFill>
                <a:latin typeface="Montserrat"/>
                <a:ea typeface="Montserrat"/>
                <a:cs typeface="Montserrat"/>
                <a:sym typeface="Montserrat"/>
              </a:rPr>
              <a:t>       [Measures].[Fact Accident Count] </a:t>
            </a:r>
          </a:p>
          <a:p>
            <a:pPr algn="l">
              <a:lnSpc>
                <a:spcPts val="3639"/>
              </a:lnSpc>
            </a:pPr>
            <a:r>
              <a:rPr lang="en-US" sz="2599">
                <a:solidFill>
                  <a:srgbClr val="404040"/>
                </a:solidFill>
                <a:latin typeface="Montserrat"/>
                <a:ea typeface="Montserrat"/>
                <a:cs typeface="Montserrat"/>
                <a:sym typeface="Montserrat"/>
              </a:rPr>
              <a:t>   ) ON ROWS </a:t>
            </a:r>
          </a:p>
          <a:p>
            <a:pPr algn="l">
              <a:lnSpc>
                <a:spcPts val="3639"/>
              </a:lnSpc>
            </a:pPr>
            <a:r>
              <a:rPr lang="en-US" sz="2599">
                <a:solidFill>
                  <a:srgbClr val="404040"/>
                </a:solidFill>
                <a:latin typeface="Montserrat"/>
                <a:ea typeface="Montserrat"/>
                <a:cs typeface="Montserrat"/>
                <a:sym typeface="Montserrat"/>
              </a:rPr>
              <a:t>FROM  </a:t>
            </a:r>
          </a:p>
          <a:p>
            <a:pPr algn="l">
              <a:lnSpc>
                <a:spcPts val="3639"/>
              </a:lnSpc>
            </a:pPr>
            <a:r>
              <a:rPr lang="en-US" sz="2599">
                <a:solidFill>
                  <a:srgbClr val="404040"/>
                </a:solidFill>
                <a:latin typeface="Montserrat"/>
                <a:ea typeface="Montserrat"/>
                <a:cs typeface="Montserrat"/>
                <a:sym typeface="Montserrat"/>
              </a:rPr>
              <a:t>   [ACCIDENT SSIS]</a:t>
            </a:r>
            <a:r>
              <a:rPr lang="en-US" sz="2599" i="true" b="true">
                <a:solidFill>
                  <a:srgbClr val="404040"/>
                </a:solidFill>
                <a:latin typeface="Montserrat Bold Italics"/>
                <a:ea typeface="Montserrat Bold Italics"/>
                <a:cs typeface="Montserrat Bold Italics"/>
                <a:sym typeface="Montserrat Bold Italics"/>
              </a:rPr>
              <a:t> </a:t>
            </a:r>
          </a:p>
          <a:p>
            <a:pPr algn="l">
              <a:lnSpc>
                <a:spcPts val="363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849086" y="0"/>
            <a:ext cx="16589829" cy="10287000"/>
          </a:xfrm>
          <a:custGeom>
            <a:avLst/>
            <a:gdLst/>
            <a:ahLst/>
            <a:cxnLst/>
            <a:rect r="r" b="b" t="t" l="l"/>
            <a:pathLst>
              <a:path h="10287000" w="16589829">
                <a:moveTo>
                  <a:pt x="0" y="0"/>
                </a:moveTo>
                <a:lnTo>
                  <a:pt x="16589828" y="0"/>
                </a:lnTo>
                <a:lnTo>
                  <a:pt x="16589828" y="10287000"/>
                </a:lnTo>
                <a:lnTo>
                  <a:pt x="0" y="10287000"/>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1028700" y="981075"/>
            <a:ext cx="15818774" cy="9027795"/>
          </a:xfrm>
          <a:prstGeom prst="rect">
            <a:avLst/>
          </a:prstGeom>
        </p:spPr>
        <p:txBody>
          <a:bodyPr anchor="t" rtlCol="false" tIns="0" lIns="0" bIns="0" rIns="0">
            <a:spAutoFit/>
          </a:bodyPr>
          <a:lstStyle/>
          <a:p>
            <a:pPr algn="l" marL="582928" indent="-291464" lvl="1">
              <a:lnSpc>
                <a:spcPts val="3779"/>
              </a:lnSpc>
              <a:buFont typeface="Arial"/>
              <a:buChar char="•"/>
            </a:pPr>
            <a:r>
              <a:rPr lang="en-US" b="true" sz="2699" i="true">
                <a:solidFill>
                  <a:srgbClr val="404040"/>
                </a:solidFill>
                <a:latin typeface="Montserrat Bold Italics"/>
                <a:ea typeface="Montserrat Bold Italics"/>
                <a:cs typeface="Montserrat Bold Italics"/>
                <a:sym typeface="Montserrat Bold Italics"/>
              </a:rPr>
              <a:t>Câu 2: Xác định số vụ tai nạn theo các mức độ và tổng số người bị thương trong từng khu vực vào năm 2022.</a:t>
            </a:r>
          </a:p>
          <a:p>
            <a:pPr algn="l">
              <a:lnSpc>
                <a:spcPts val="3779"/>
              </a:lnSpc>
            </a:pPr>
            <a:r>
              <a:rPr lang="en-US" sz="2699">
                <a:solidFill>
                  <a:srgbClr val="404040"/>
                </a:solidFill>
                <a:latin typeface="Montserrat"/>
                <a:ea typeface="Montserrat"/>
                <a:cs typeface="Montserrat"/>
                <a:sym typeface="Montserrat"/>
              </a:rPr>
              <a:t>SELECT  </a:t>
            </a:r>
          </a:p>
          <a:p>
            <a:pPr algn="l">
              <a:lnSpc>
                <a:spcPts val="3779"/>
              </a:lnSpc>
            </a:pPr>
            <a:r>
              <a:rPr lang="en-US" sz="2699">
                <a:solidFill>
                  <a:srgbClr val="404040"/>
                </a:solidFill>
                <a:latin typeface="Montserrat"/>
                <a:ea typeface="Montserrat"/>
                <a:cs typeface="Montserrat"/>
                <a:sym typeface="Montserrat"/>
              </a:rPr>
              <a:t>   {[Measures].[Fact Accident Count], [Measures].[Number Of Casualties]} ON COLUMNS, </a:t>
            </a:r>
          </a:p>
          <a:p>
            <a:pPr algn="l">
              <a:lnSpc>
                <a:spcPts val="3779"/>
              </a:lnSpc>
            </a:pPr>
            <a:r>
              <a:rPr lang="en-US" sz="2699">
                <a:solidFill>
                  <a:srgbClr val="404040"/>
                </a:solidFill>
                <a:latin typeface="Montserrat"/>
                <a:ea typeface="Montserrat"/>
                <a:cs typeface="Montserrat"/>
                <a:sym typeface="Montserrat"/>
              </a:rPr>
              <a:t>   CROSSJOIN( </a:t>
            </a:r>
          </a:p>
          <a:p>
            <a:pPr algn="l">
              <a:lnSpc>
                <a:spcPts val="3779"/>
              </a:lnSpc>
            </a:pPr>
            <a:r>
              <a:rPr lang="en-US" sz="2699">
                <a:solidFill>
                  <a:srgbClr val="404040"/>
                </a:solidFill>
                <a:latin typeface="Montserrat"/>
                <a:ea typeface="Montserrat"/>
                <a:cs typeface="Montserrat"/>
                <a:sym typeface="Montserrat"/>
              </a:rPr>
              <a:t>       FILTER( </a:t>
            </a:r>
          </a:p>
          <a:p>
            <a:pPr algn="l">
              <a:lnSpc>
                <a:spcPts val="3779"/>
              </a:lnSpc>
            </a:pPr>
            <a:r>
              <a:rPr lang="en-US" sz="2699">
                <a:solidFill>
                  <a:srgbClr val="404040"/>
                </a:solidFill>
                <a:latin typeface="Montserrat"/>
                <a:ea typeface="Montserrat"/>
                <a:cs typeface="Montserrat"/>
                <a:sym typeface="Montserrat"/>
              </a:rPr>
              <a:t>           [DIM ACCIDENT SEVERITY].[ACCIDENT SEVERITY].[ACCIDENT SEVERITY].MEMBERS, </a:t>
            </a:r>
          </a:p>
          <a:p>
            <a:pPr algn="l">
              <a:lnSpc>
                <a:spcPts val="3779"/>
              </a:lnSpc>
            </a:pPr>
            <a:r>
              <a:rPr lang="en-US" sz="2699">
                <a:solidFill>
                  <a:srgbClr val="404040"/>
                </a:solidFill>
                <a:latin typeface="Montserrat"/>
                <a:ea typeface="Montserrat"/>
                <a:cs typeface="Montserrat"/>
                <a:sym typeface="Montserrat"/>
              </a:rPr>
              <a:t>           [DIM ACCIDENT SEVERITY].[ACCIDENT SEVERITY].CURRENTMEMBER.Name &lt;&gt; "Unknown" </a:t>
            </a:r>
          </a:p>
          <a:p>
            <a:pPr algn="l">
              <a:lnSpc>
                <a:spcPts val="3779"/>
              </a:lnSpc>
            </a:pPr>
            <a:r>
              <a:rPr lang="en-US" sz="2699">
                <a:solidFill>
                  <a:srgbClr val="404040"/>
                </a:solidFill>
                <a:latin typeface="Montserrat"/>
                <a:ea typeface="Montserrat"/>
                <a:cs typeface="Montserrat"/>
                <a:sym typeface="Montserrat"/>
              </a:rPr>
              <a:t>       ), </a:t>
            </a:r>
          </a:p>
          <a:p>
            <a:pPr algn="l">
              <a:lnSpc>
                <a:spcPts val="3779"/>
              </a:lnSpc>
            </a:pPr>
            <a:r>
              <a:rPr lang="en-US" sz="2699">
                <a:solidFill>
                  <a:srgbClr val="404040"/>
                </a:solidFill>
                <a:latin typeface="Montserrat"/>
                <a:ea typeface="Montserrat"/>
                <a:cs typeface="Montserrat"/>
                <a:sym typeface="Montserrat"/>
              </a:rPr>
              <a:t>       FILTER( </a:t>
            </a:r>
          </a:p>
          <a:p>
            <a:pPr algn="l">
              <a:lnSpc>
                <a:spcPts val="3779"/>
              </a:lnSpc>
            </a:pPr>
            <a:r>
              <a:rPr lang="en-US" sz="2699">
                <a:solidFill>
                  <a:srgbClr val="404040"/>
                </a:solidFill>
                <a:latin typeface="Montserrat"/>
                <a:ea typeface="Montserrat"/>
                <a:cs typeface="Montserrat"/>
                <a:sym typeface="Montserrat"/>
              </a:rPr>
              <a:t>           [DIM AREA].[AREA NAME].[AREA NAME].MEMBERS, </a:t>
            </a:r>
          </a:p>
          <a:p>
            <a:pPr algn="l">
              <a:lnSpc>
                <a:spcPts val="3779"/>
              </a:lnSpc>
            </a:pPr>
            <a:r>
              <a:rPr lang="en-US" sz="2699">
                <a:solidFill>
                  <a:srgbClr val="404040"/>
                </a:solidFill>
                <a:latin typeface="Montserrat"/>
                <a:ea typeface="Montserrat"/>
                <a:cs typeface="Montserrat"/>
                <a:sym typeface="Montserrat"/>
              </a:rPr>
              <a:t>           [DIM AREA].[AREA NAME].CURRENTMEMBER.Name &lt;&gt; "Unknown" </a:t>
            </a:r>
          </a:p>
          <a:p>
            <a:pPr algn="l">
              <a:lnSpc>
                <a:spcPts val="3779"/>
              </a:lnSpc>
            </a:pPr>
            <a:r>
              <a:rPr lang="en-US" sz="2699">
                <a:solidFill>
                  <a:srgbClr val="404040"/>
                </a:solidFill>
                <a:latin typeface="Montserrat"/>
                <a:ea typeface="Montserrat"/>
                <a:cs typeface="Montserrat"/>
                <a:sym typeface="Montserrat"/>
              </a:rPr>
              <a:t>       ) </a:t>
            </a:r>
          </a:p>
          <a:p>
            <a:pPr algn="l">
              <a:lnSpc>
                <a:spcPts val="3779"/>
              </a:lnSpc>
            </a:pPr>
            <a:r>
              <a:rPr lang="en-US" sz="2699">
                <a:solidFill>
                  <a:srgbClr val="404040"/>
                </a:solidFill>
                <a:latin typeface="Montserrat"/>
                <a:ea typeface="Montserrat"/>
                <a:cs typeface="Montserrat"/>
                <a:sym typeface="Montserrat"/>
              </a:rPr>
              <a:t>   ) ON ROWS </a:t>
            </a:r>
          </a:p>
          <a:p>
            <a:pPr algn="l">
              <a:lnSpc>
                <a:spcPts val="3779"/>
              </a:lnSpc>
            </a:pPr>
            <a:r>
              <a:rPr lang="en-US" sz="2699">
                <a:solidFill>
                  <a:srgbClr val="404040"/>
                </a:solidFill>
                <a:latin typeface="Montserrat"/>
                <a:ea typeface="Montserrat"/>
                <a:cs typeface="Montserrat"/>
                <a:sym typeface="Montserrat"/>
              </a:rPr>
              <a:t>FROM  </a:t>
            </a:r>
          </a:p>
          <a:p>
            <a:pPr algn="l">
              <a:lnSpc>
                <a:spcPts val="3779"/>
              </a:lnSpc>
            </a:pPr>
            <a:r>
              <a:rPr lang="en-US" sz="2699">
                <a:solidFill>
                  <a:srgbClr val="404040"/>
                </a:solidFill>
                <a:latin typeface="Montserrat"/>
                <a:ea typeface="Montserrat"/>
                <a:cs typeface="Montserrat"/>
                <a:sym typeface="Montserrat"/>
              </a:rPr>
              <a:t>   [ACCIDENT SSIS] </a:t>
            </a:r>
          </a:p>
          <a:p>
            <a:pPr algn="l">
              <a:lnSpc>
                <a:spcPts val="3779"/>
              </a:lnSpc>
            </a:pPr>
            <a:r>
              <a:rPr lang="en-US" sz="2699">
                <a:solidFill>
                  <a:srgbClr val="404040"/>
                </a:solidFill>
                <a:latin typeface="Montserrat"/>
                <a:ea typeface="Montserrat"/>
                <a:cs typeface="Montserrat"/>
                <a:sym typeface="Montserrat"/>
              </a:rPr>
              <a:t>WHERE  </a:t>
            </a:r>
          </a:p>
          <a:p>
            <a:pPr algn="l">
              <a:lnSpc>
                <a:spcPts val="3779"/>
              </a:lnSpc>
              <a:spcBef>
                <a:spcPct val="0"/>
              </a:spcBef>
            </a:pPr>
            <a:r>
              <a:rPr lang="en-US" sz="2699">
                <a:solidFill>
                  <a:srgbClr val="404040"/>
                </a:solidFill>
                <a:latin typeface="Montserrat"/>
                <a:ea typeface="Montserrat"/>
                <a:cs typeface="Montserrat"/>
                <a:sym typeface="Montserrat"/>
              </a:rPr>
              <a:t>   ([DIM DATE].[HIERARCHIES_DATE].[ACCIDENT YEAR].&amp;[2022])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703385"/>
            <a:ext cx="18288000" cy="8880231"/>
          </a:xfrm>
          <a:custGeom>
            <a:avLst/>
            <a:gdLst/>
            <a:ahLst/>
            <a:cxnLst/>
            <a:rect r="r" b="b" t="t" l="l"/>
            <a:pathLst>
              <a:path h="8880231" w="18288000">
                <a:moveTo>
                  <a:pt x="0" y="0"/>
                </a:moveTo>
                <a:lnTo>
                  <a:pt x="18288000" y="0"/>
                </a:lnTo>
                <a:lnTo>
                  <a:pt x="18288000" y="8880230"/>
                </a:lnTo>
                <a:lnTo>
                  <a:pt x="0" y="8880230"/>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1028700" y="981075"/>
            <a:ext cx="15818774" cy="7599045"/>
          </a:xfrm>
          <a:prstGeom prst="rect">
            <a:avLst/>
          </a:prstGeom>
        </p:spPr>
        <p:txBody>
          <a:bodyPr anchor="t" rtlCol="false" tIns="0" lIns="0" bIns="0" rIns="0">
            <a:spAutoFit/>
          </a:bodyPr>
          <a:lstStyle/>
          <a:p>
            <a:pPr algn="l" marL="582928" indent="-291464" lvl="1">
              <a:lnSpc>
                <a:spcPts val="3779"/>
              </a:lnSpc>
              <a:buFont typeface="Arial"/>
              <a:buChar char="•"/>
            </a:pPr>
            <a:r>
              <a:rPr lang="en-US" b="true" sz="2699" i="true">
                <a:solidFill>
                  <a:srgbClr val="404040"/>
                </a:solidFill>
                <a:latin typeface="Montserrat Bold Italics"/>
                <a:ea typeface="Montserrat Bold Italics"/>
                <a:cs typeface="Montserrat Bold Italics"/>
                <a:sym typeface="Montserrat Bold Italics"/>
              </a:rPr>
              <a:t>Câu 3: Top 3 khu vực có số tai nạn nhiều nhất trong các năm.</a:t>
            </a:r>
          </a:p>
          <a:p>
            <a:pPr algn="l">
              <a:lnSpc>
                <a:spcPts val="3779"/>
              </a:lnSpc>
            </a:pPr>
            <a:r>
              <a:rPr lang="en-US" sz="2699">
                <a:solidFill>
                  <a:srgbClr val="404040"/>
                </a:solidFill>
                <a:latin typeface="Montserrat"/>
                <a:ea typeface="Montserrat"/>
                <a:cs typeface="Montserrat"/>
                <a:sym typeface="Montserrat"/>
              </a:rPr>
              <a:t>SELECT </a:t>
            </a:r>
          </a:p>
          <a:p>
            <a:pPr algn="l">
              <a:lnSpc>
                <a:spcPts val="3779"/>
              </a:lnSpc>
            </a:pPr>
            <a:r>
              <a:rPr lang="en-US" sz="2699">
                <a:solidFill>
                  <a:srgbClr val="404040"/>
                </a:solidFill>
                <a:latin typeface="Montserrat"/>
                <a:ea typeface="Montserrat"/>
                <a:cs typeface="Montserrat"/>
                <a:sym typeface="Montserrat"/>
              </a:rPr>
              <a:t>   {[Measures].[Fact Accident Count]} ON COLUMNS,</a:t>
            </a:r>
          </a:p>
          <a:p>
            <a:pPr algn="l">
              <a:lnSpc>
                <a:spcPts val="3779"/>
              </a:lnSpc>
            </a:pPr>
            <a:r>
              <a:rPr lang="en-US" sz="2699">
                <a:solidFill>
                  <a:srgbClr val="404040"/>
                </a:solidFill>
                <a:latin typeface="Montserrat"/>
                <a:ea typeface="Montserrat"/>
                <a:cs typeface="Montserrat"/>
                <a:sym typeface="Montserrat"/>
              </a:rPr>
              <a:t>   NONEMPTY(</a:t>
            </a:r>
          </a:p>
          <a:p>
            <a:pPr algn="l">
              <a:lnSpc>
                <a:spcPts val="3779"/>
              </a:lnSpc>
            </a:pPr>
            <a:r>
              <a:rPr lang="en-US" sz="2699">
                <a:solidFill>
                  <a:srgbClr val="404040"/>
                </a:solidFill>
                <a:latin typeface="Montserrat"/>
                <a:ea typeface="Montserrat"/>
                <a:cs typeface="Montserrat"/>
                <a:sym typeface="Montserrat"/>
              </a:rPr>
              <a:t>      GENERATE(</a:t>
            </a:r>
          </a:p>
          <a:p>
            <a:pPr algn="l">
              <a:lnSpc>
                <a:spcPts val="3779"/>
              </a:lnSpc>
            </a:pPr>
            <a:r>
              <a:rPr lang="en-US" sz="2699">
                <a:solidFill>
                  <a:srgbClr val="404040"/>
                </a:solidFill>
                <a:latin typeface="Montserrat"/>
                <a:ea typeface="Montserrat"/>
                <a:cs typeface="Montserrat"/>
                <a:sym typeface="Montserrat"/>
              </a:rPr>
              <a:t>         [DIM DATE].[HIERARCHIES_DATE].CHILDREN,</a:t>
            </a:r>
          </a:p>
          <a:p>
            <a:pPr algn="l">
              <a:lnSpc>
                <a:spcPts val="3779"/>
              </a:lnSpc>
            </a:pPr>
            <a:r>
              <a:rPr lang="en-US" sz="2699">
                <a:solidFill>
                  <a:srgbClr val="404040"/>
                </a:solidFill>
                <a:latin typeface="Montserrat"/>
                <a:ea typeface="Montserrat"/>
                <a:cs typeface="Montserrat"/>
                <a:sym typeface="Montserrat"/>
              </a:rPr>
              <a:t>         TOPCOUNT(</a:t>
            </a:r>
          </a:p>
          <a:p>
            <a:pPr algn="l">
              <a:lnSpc>
                <a:spcPts val="3779"/>
              </a:lnSpc>
            </a:pPr>
            <a:r>
              <a:rPr lang="en-US" sz="2699">
                <a:solidFill>
                  <a:srgbClr val="404040"/>
                </a:solidFill>
                <a:latin typeface="Montserrat"/>
                <a:ea typeface="Montserrat"/>
                <a:cs typeface="Montserrat"/>
                <a:sym typeface="Montserrat"/>
              </a:rPr>
              <a:t>            [DIM DATE].[HIERARCHIES_DATE].CURRENTMEMBER *</a:t>
            </a:r>
          </a:p>
          <a:p>
            <a:pPr algn="l">
              <a:lnSpc>
                <a:spcPts val="3779"/>
              </a:lnSpc>
            </a:pPr>
            <a:r>
              <a:rPr lang="en-US" sz="2699">
                <a:solidFill>
                  <a:srgbClr val="404040"/>
                </a:solidFill>
                <a:latin typeface="Montserrat"/>
                <a:ea typeface="Montserrat"/>
                <a:cs typeface="Montserrat"/>
                <a:sym typeface="Montserrat"/>
              </a:rPr>
              <a:t>            [DIM DISTRICT].[DISTRICT AREA].[DISTRICT AREA].MEMBERS, </a:t>
            </a:r>
          </a:p>
          <a:p>
            <a:pPr algn="l">
              <a:lnSpc>
                <a:spcPts val="3779"/>
              </a:lnSpc>
            </a:pPr>
            <a:r>
              <a:rPr lang="en-US" sz="2699">
                <a:solidFill>
                  <a:srgbClr val="404040"/>
                </a:solidFill>
                <a:latin typeface="Montserrat"/>
                <a:ea typeface="Montserrat"/>
                <a:cs typeface="Montserrat"/>
                <a:sym typeface="Montserrat"/>
              </a:rPr>
              <a:t>            3,</a:t>
            </a:r>
          </a:p>
          <a:p>
            <a:pPr algn="l">
              <a:lnSpc>
                <a:spcPts val="3779"/>
              </a:lnSpc>
            </a:pPr>
            <a:r>
              <a:rPr lang="en-US" sz="2699">
                <a:solidFill>
                  <a:srgbClr val="404040"/>
                </a:solidFill>
                <a:latin typeface="Montserrat"/>
                <a:ea typeface="Montserrat"/>
                <a:cs typeface="Montserrat"/>
                <a:sym typeface="Montserrat"/>
              </a:rPr>
              <a:t>            [Measures].[Fact Accident Count]</a:t>
            </a:r>
          </a:p>
          <a:p>
            <a:pPr algn="l">
              <a:lnSpc>
                <a:spcPts val="3779"/>
              </a:lnSpc>
            </a:pPr>
            <a:r>
              <a:rPr lang="en-US" sz="2699">
                <a:solidFill>
                  <a:srgbClr val="404040"/>
                </a:solidFill>
                <a:latin typeface="Montserrat"/>
                <a:ea typeface="Montserrat"/>
                <a:cs typeface="Montserrat"/>
                <a:sym typeface="Montserrat"/>
              </a:rPr>
              <a:t>          )</a:t>
            </a:r>
          </a:p>
          <a:p>
            <a:pPr algn="l">
              <a:lnSpc>
                <a:spcPts val="3779"/>
              </a:lnSpc>
            </a:pPr>
            <a:r>
              <a:rPr lang="en-US" sz="2699">
                <a:solidFill>
                  <a:srgbClr val="404040"/>
                </a:solidFill>
                <a:latin typeface="Montserrat"/>
                <a:ea typeface="Montserrat"/>
                <a:cs typeface="Montserrat"/>
                <a:sym typeface="Montserrat"/>
              </a:rPr>
              <a:t>      )</a:t>
            </a:r>
          </a:p>
          <a:p>
            <a:pPr algn="l">
              <a:lnSpc>
                <a:spcPts val="3779"/>
              </a:lnSpc>
            </a:pPr>
            <a:r>
              <a:rPr lang="en-US" sz="2699">
                <a:solidFill>
                  <a:srgbClr val="404040"/>
                </a:solidFill>
                <a:latin typeface="Montserrat"/>
                <a:ea typeface="Montserrat"/>
                <a:cs typeface="Montserrat"/>
                <a:sym typeface="Montserrat"/>
              </a:rPr>
              <a:t>   ) ON ROWS</a:t>
            </a:r>
          </a:p>
          <a:p>
            <a:pPr algn="l">
              <a:lnSpc>
                <a:spcPts val="3779"/>
              </a:lnSpc>
            </a:pPr>
            <a:r>
              <a:rPr lang="en-US" sz="2699">
                <a:solidFill>
                  <a:srgbClr val="404040"/>
                </a:solidFill>
                <a:latin typeface="Montserrat"/>
                <a:ea typeface="Montserrat"/>
                <a:cs typeface="Montserrat"/>
                <a:sym typeface="Montserrat"/>
              </a:rPr>
              <a:t>FROM </a:t>
            </a:r>
          </a:p>
          <a:p>
            <a:pPr algn="l">
              <a:lnSpc>
                <a:spcPts val="3779"/>
              </a:lnSpc>
              <a:spcBef>
                <a:spcPct val="0"/>
              </a:spcBef>
            </a:pPr>
            <a:r>
              <a:rPr lang="en-US" sz="2699">
                <a:solidFill>
                  <a:srgbClr val="404040"/>
                </a:solidFill>
                <a:latin typeface="Montserrat"/>
                <a:ea typeface="Montserrat"/>
                <a:cs typeface="Montserrat"/>
                <a:sym typeface="Montserrat"/>
              </a:rPr>
              <a:t>   [ACCIDENT SSIS]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4272803" y="0"/>
            <a:ext cx="9742394" cy="10287000"/>
          </a:xfrm>
          <a:custGeom>
            <a:avLst/>
            <a:gdLst/>
            <a:ahLst/>
            <a:cxnLst/>
            <a:rect r="r" b="b" t="t" l="l"/>
            <a:pathLst>
              <a:path h="10287000" w="9742394">
                <a:moveTo>
                  <a:pt x="0" y="0"/>
                </a:moveTo>
                <a:lnTo>
                  <a:pt x="9742394" y="0"/>
                </a:lnTo>
                <a:lnTo>
                  <a:pt x="9742394" y="10287000"/>
                </a:lnTo>
                <a:lnTo>
                  <a:pt x="0" y="10287000"/>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543684"/>
          </a:xfrm>
          <a:prstGeom prst="rect">
            <a:avLst/>
          </a:prstGeom>
        </p:spPr>
        <p:txBody>
          <a:bodyPr anchor="t" rtlCol="false" tIns="0" lIns="0" bIns="0" rIns="0">
            <a:spAutoFit/>
          </a:bodyPr>
          <a:lstStyle/>
          <a:p>
            <a:pPr algn="ctr">
              <a:lnSpc>
                <a:spcPts val="12445"/>
              </a:lnSpc>
            </a:pPr>
            <a:r>
              <a:rPr lang="en-US" sz="9500">
                <a:solidFill>
                  <a:srgbClr val="404040"/>
                </a:solidFill>
                <a:latin typeface="Open Sans Extra Bold"/>
                <a:ea typeface="Open Sans Extra Bold"/>
                <a:cs typeface="Open Sans Extra Bold"/>
                <a:sym typeface="Open Sans Extra Bold"/>
              </a:rPr>
              <a:t>3. CÁC BÁO BIỂU (POWER BI)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0"/>
            <a:ext cx="18288000" cy="10199077"/>
          </a:xfrm>
          <a:custGeom>
            <a:avLst/>
            <a:gdLst/>
            <a:ahLst/>
            <a:cxnLst/>
            <a:rect r="r" b="b" t="t" l="l"/>
            <a:pathLst>
              <a:path h="10199077" w="18288000">
                <a:moveTo>
                  <a:pt x="0" y="0"/>
                </a:moveTo>
                <a:lnTo>
                  <a:pt x="18288000" y="0"/>
                </a:lnTo>
                <a:lnTo>
                  <a:pt x="18288000" y="10199077"/>
                </a:lnTo>
                <a:lnTo>
                  <a:pt x="0" y="10199077"/>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0"/>
            <a:ext cx="18236045" cy="10287000"/>
          </a:xfrm>
          <a:custGeom>
            <a:avLst/>
            <a:gdLst/>
            <a:ahLst/>
            <a:cxnLst/>
            <a:rect r="r" b="b" t="t" l="l"/>
            <a:pathLst>
              <a:path h="10287000" w="18236045">
                <a:moveTo>
                  <a:pt x="0" y="0"/>
                </a:moveTo>
                <a:lnTo>
                  <a:pt x="18236045" y="0"/>
                </a:lnTo>
                <a:lnTo>
                  <a:pt x="18236045" y="10287000"/>
                </a:lnTo>
                <a:lnTo>
                  <a:pt x="0" y="10287000"/>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0"/>
            <a:ext cx="18288000" cy="10111154"/>
          </a:xfrm>
          <a:custGeom>
            <a:avLst/>
            <a:gdLst/>
            <a:ahLst/>
            <a:cxnLst/>
            <a:rect r="r" b="b" t="t" l="l"/>
            <a:pathLst>
              <a:path h="10111154" w="18288000">
                <a:moveTo>
                  <a:pt x="0" y="0"/>
                </a:moveTo>
                <a:lnTo>
                  <a:pt x="18288000" y="0"/>
                </a:lnTo>
                <a:lnTo>
                  <a:pt x="18288000" y="10111154"/>
                </a:lnTo>
                <a:lnTo>
                  <a:pt x="0" y="10111154"/>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543684"/>
          </a:xfrm>
          <a:prstGeom prst="rect">
            <a:avLst/>
          </a:prstGeom>
        </p:spPr>
        <p:txBody>
          <a:bodyPr anchor="t" rtlCol="false" tIns="0" lIns="0" bIns="0" rIns="0">
            <a:spAutoFit/>
          </a:bodyPr>
          <a:lstStyle/>
          <a:p>
            <a:pPr algn="ctr">
              <a:lnSpc>
                <a:spcPts val="12445"/>
              </a:lnSpc>
            </a:pPr>
            <a:r>
              <a:rPr lang="en-US" sz="9500">
                <a:solidFill>
                  <a:srgbClr val="404040"/>
                </a:solidFill>
                <a:latin typeface="Open Sans Extra Bold"/>
                <a:ea typeface="Open Sans Extra Bold"/>
                <a:cs typeface="Open Sans Extra Bold"/>
                <a:sym typeface="Open Sans Extra Bold"/>
              </a:rPr>
              <a:t>3. CÁC BÁO BIỂU (LOOKER)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1979839" y="0"/>
            <a:ext cx="14328321" cy="10287000"/>
          </a:xfrm>
          <a:custGeom>
            <a:avLst/>
            <a:gdLst/>
            <a:ahLst/>
            <a:cxnLst/>
            <a:rect r="r" b="b" t="t" l="l"/>
            <a:pathLst>
              <a:path h="10287000" w="14328321">
                <a:moveTo>
                  <a:pt x="0" y="0"/>
                </a:moveTo>
                <a:lnTo>
                  <a:pt x="14328322" y="0"/>
                </a:lnTo>
                <a:lnTo>
                  <a:pt x="14328322" y="10287000"/>
                </a:lnTo>
                <a:lnTo>
                  <a:pt x="0" y="10287000"/>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3018916" y="0"/>
            <a:ext cx="12250168" cy="10287000"/>
          </a:xfrm>
          <a:custGeom>
            <a:avLst/>
            <a:gdLst/>
            <a:ahLst/>
            <a:cxnLst/>
            <a:rect r="r" b="b" t="t" l="l"/>
            <a:pathLst>
              <a:path h="10287000" w="12250168">
                <a:moveTo>
                  <a:pt x="0" y="0"/>
                </a:moveTo>
                <a:lnTo>
                  <a:pt x="12250168" y="0"/>
                </a:lnTo>
                <a:lnTo>
                  <a:pt x="12250168" y="10287000"/>
                </a:lnTo>
                <a:lnTo>
                  <a:pt x="0" y="10287000"/>
                </a:lnTo>
                <a:lnTo>
                  <a:pt x="0" y="0"/>
                </a:lnTo>
                <a:close/>
              </a:path>
            </a:pathLst>
          </a:custGeom>
          <a:blipFill>
            <a:blip r:embed="rId3"/>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2120928" y="0"/>
            <a:ext cx="14046144" cy="10287000"/>
          </a:xfrm>
          <a:custGeom>
            <a:avLst/>
            <a:gdLst/>
            <a:ahLst/>
            <a:cxnLst/>
            <a:rect r="r" b="b" t="t" l="l"/>
            <a:pathLst>
              <a:path h="10287000" w="14046144">
                <a:moveTo>
                  <a:pt x="0" y="0"/>
                </a:moveTo>
                <a:lnTo>
                  <a:pt x="14046144" y="0"/>
                </a:lnTo>
                <a:lnTo>
                  <a:pt x="14046144" y="10287000"/>
                </a:lnTo>
                <a:lnTo>
                  <a:pt x="0" y="10287000"/>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pPr>
            <a:r>
              <a:rPr lang="en-US" sz="9999">
                <a:solidFill>
                  <a:srgbClr val="404040"/>
                </a:solidFill>
                <a:latin typeface="Open Sans Extra Bold"/>
                <a:ea typeface="Open Sans Extra Bold"/>
                <a:cs typeface="Open Sans Extra Bold"/>
                <a:sym typeface="Open Sans Extra Bold"/>
              </a:rPr>
              <a:t>4. KHAI THÁC DỮ LIỆU</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pPr>
            <a:r>
              <a:rPr lang="en-US" sz="9999">
                <a:solidFill>
                  <a:srgbClr val="404040"/>
                </a:solidFill>
                <a:latin typeface="Open Sans Extra Bold"/>
                <a:ea typeface="Open Sans Extra Bold"/>
                <a:cs typeface="Open Sans Extra Bold"/>
                <a:sym typeface="Open Sans Extra Bold"/>
              </a:rPr>
              <a:t>MỘT SỐ BIỂU ĐỒ</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1537630"/>
            <a:ext cx="18288000" cy="7211740"/>
          </a:xfrm>
          <a:custGeom>
            <a:avLst/>
            <a:gdLst/>
            <a:ahLst/>
            <a:cxnLst/>
            <a:rect r="r" b="b" t="t" l="l"/>
            <a:pathLst>
              <a:path h="7211740" w="18288000">
                <a:moveTo>
                  <a:pt x="0" y="0"/>
                </a:moveTo>
                <a:lnTo>
                  <a:pt x="18288000" y="0"/>
                </a:lnTo>
                <a:lnTo>
                  <a:pt x="18288000" y="7211740"/>
                </a:lnTo>
                <a:lnTo>
                  <a:pt x="0" y="7211740"/>
                </a:lnTo>
                <a:lnTo>
                  <a:pt x="0" y="0"/>
                </a:lnTo>
                <a:close/>
              </a:path>
            </a:pathLst>
          </a:custGeom>
          <a:blipFill>
            <a:blip r:embed="rId3"/>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899663"/>
            <a:ext cx="18238779" cy="8487673"/>
          </a:xfrm>
          <a:custGeom>
            <a:avLst/>
            <a:gdLst/>
            <a:ahLst/>
            <a:cxnLst/>
            <a:rect r="r" b="b" t="t" l="l"/>
            <a:pathLst>
              <a:path h="8487673" w="18238779">
                <a:moveTo>
                  <a:pt x="0" y="0"/>
                </a:moveTo>
                <a:lnTo>
                  <a:pt x="18238779" y="0"/>
                </a:lnTo>
                <a:lnTo>
                  <a:pt x="18238779" y="8487674"/>
                </a:lnTo>
                <a:lnTo>
                  <a:pt x="0" y="8487674"/>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2660073" y="0"/>
            <a:ext cx="12967855" cy="10287000"/>
          </a:xfrm>
          <a:custGeom>
            <a:avLst/>
            <a:gdLst/>
            <a:ahLst/>
            <a:cxnLst/>
            <a:rect r="r" b="b" t="t" l="l"/>
            <a:pathLst>
              <a:path h="10287000" w="12967855">
                <a:moveTo>
                  <a:pt x="0" y="0"/>
                </a:moveTo>
                <a:lnTo>
                  <a:pt x="12967854" y="0"/>
                </a:lnTo>
                <a:lnTo>
                  <a:pt x="12967854" y="10287000"/>
                </a:lnTo>
                <a:lnTo>
                  <a:pt x="0" y="10287000"/>
                </a:lnTo>
                <a:lnTo>
                  <a:pt x="0" y="0"/>
                </a:lnTo>
                <a:close/>
              </a:path>
            </a:pathLst>
          </a:custGeom>
          <a:blipFill>
            <a:blip r:embed="rId3"/>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1667600" y="626828"/>
            <a:ext cx="16296976" cy="8779996"/>
          </a:xfrm>
          <a:custGeom>
            <a:avLst/>
            <a:gdLst/>
            <a:ahLst/>
            <a:cxnLst/>
            <a:rect r="r" b="b" t="t" l="l"/>
            <a:pathLst>
              <a:path h="8779996" w="16296976">
                <a:moveTo>
                  <a:pt x="0" y="0"/>
                </a:moveTo>
                <a:lnTo>
                  <a:pt x="16296976" y="0"/>
                </a:lnTo>
                <a:lnTo>
                  <a:pt x="16296976" y="8779995"/>
                </a:lnTo>
                <a:lnTo>
                  <a:pt x="0" y="8779995"/>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pPr>
            <a:r>
              <a:rPr lang="en-US" sz="9999">
                <a:solidFill>
                  <a:srgbClr val="404040"/>
                </a:solidFill>
                <a:latin typeface="Open Sans Extra Bold"/>
                <a:ea typeface="Open Sans Extra Bold"/>
                <a:cs typeface="Open Sans Extra Bold"/>
                <a:sym typeface="Open Sans Extra Bold"/>
              </a:rPr>
              <a:t>CHỦ ĐỀ</a:t>
            </a:r>
          </a:p>
        </p:txBody>
      </p:sp>
      <p:sp>
        <p:nvSpPr>
          <p:cNvPr name="TextBox 4" id="4"/>
          <p:cNvSpPr txBox="true"/>
          <p:nvPr/>
        </p:nvSpPr>
        <p:spPr>
          <a:xfrm rot="0">
            <a:off x="1028700" y="3508375"/>
            <a:ext cx="16230600" cy="1635125"/>
          </a:xfrm>
          <a:prstGeom prst="rect">
            <a:avLst/>
          </a:prstGeom>
        </p:spPr>
        <p:txBody>
          <a:bodyPr anchor="t" rtlCol="false" tIns="0" lIns="0" bIns="0" rIns="0">
            <a:spAutoFit/>
          </a:bodyPr>
          <a:lstStyle/>
          <a:p>
            <a:pPr algn="ctr">
              <a:lnSpc>
                <a:spcPts val="6550"/>
              </a:lnSpc>
            </a:pPr>
            <a:r>
              <a:rPr lang="en-US" sz="5000">
                <a:solidFill>
                  <a:srgbClr val="404040"/>
                </a:solidFill>
                <a:latin typeface="Montserrat"/>
                <a:ea typeface="Montserrat"/>
                <a:cs typeface="Montserrat"/>
                <a:sym typeface="Montserrat"/>
              </a:rPr>
              <a:t>DỰ ĐOÁN MỨC ĐỘ NGHIÊM TRỌNG CỦA </a:t>
            </a:r>
          </a:p>
          <a:p>
            <a:pPr algn="ctr">
              <a:lnSpc>
                <a:spcPts val="6550"/>
              </a:lnSpc>
              <a:spcBef>
                <a:spcPct val="0"/>
              </a:spcBef>
            </a:pPr>
            <a:r>
              <a:rPr lang="en-US" sz="5000">
                <a:solidFill>
                  <a:srgbClr val="404040"/>
                </a:solidFill>
                <a:latin typeface="Montserrat"/>
                <a:ea typeface="Montserrat"/>
                <a:cs typeface="Montserrat"/>
                <a:sym typeface="Montserrat"/>
              </a:rPr>
              <a:t>TAI NẠN GIAO THÔNG</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6618421" y="658006"/>
            <a:ext cx="11669579" cy="8970989"/>
          </a:xfrm>
          <a:custGeom>
            <a:avLst/>
            <a:gdLst/>
            <a:ahLst/>
            <a:cxnLst/>
            <a:rect r="r" b="b" t="t" l="l"/>
            <a:pathLst>
              <a:path h="8970989" w="11669579">
                <a:moveTo>
                  <a:pt x="0" y="0"/>
                </a:moveTo>
                <a:lnTo>
                  <a:pt x="11669579" y="0"/>
                </a:lnTo>
                <a:lnTo>
                  <a:pt x="11669579" y="8970988"/>
                </a:lnTo>
                <a:lnTo>
                  <a:pt x="0" y="8970988"/>
                </a:lnTo>
                <a:lnTo>
                  <a:pt x="0" y="0"/>
                </a:lnTo>
                <a:close/>
              </a:path>
            </a:pathLst>
          </a:custGeom>
          <a:blipFill>
            <a:blip r:embed="rId3"/>
            <a:stretch>
              <a:fillRect l="0" t="0" r="0" b="0"/>
            </a:stretch>
          </a:blipFill>
        </p:spPr>
      </p:sp>
      <p:sp>
        <p:nvSpPr>
          <p:cNvPr name="TextBox 4" id="4"/>
          <p:cNvSpPr txBox="true"/>
          <p:nvPr/>
        </p:nvSpPr>
        <p:spPr>
          <a:xfrm rot="0">
            <a:off x="418377" y="3521075"/>
            <a:ext cx="5219870" cy="1622425"/>
          </a:xfrm>
          <a:prstGeom prst="rect">
            <a:avLst/>
          </a:prstGeom>
        </p:spPr>
        <p:txBody>
          <a:bodyPr anchor="t" rtlCol="false" tIns="0" lIns="0" bIns="0" rIns="0">
            <a:spAutoFit/>
          </a:bodyPr>
          <a:lstStyle/>
          <a:p>
            <a:pPr algn="ctr">
              <a:lnSpc>
                <a:spcPts val="13099"/>
              </a:lnSpc>
              <a:spcBef>
                <a:spcPct val="0"/>
              </a:spcBef>
            </a:pPr>
            <a:r>
              <a:rPr lang="en-US" sz="9999">
                <a:solidFill>
                  <a:srgbClr val="000000"/>
                </a:solidFill>
                <a:latin typeface="Open Sans Extra Bold"/>
                <a:ea typeface="Open Sans Extra Bold"/>
                <a:cs typeface="Open Sans Extra Bold"/>
                <a:sym typeface="Open Sans Extra Bold"/>
              </a:rPr>
              <a:t>TRƯỚC</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5468143" y="67354"/>
            <a:ext cx="12819857" cy="10152291"/>
          </a:xfrm>
          <a:custGeom>
            <a:avLst/>
            <a:gdLst/>
            <a:ahLst/>
            <a:cxnLst/>
            <a:rect r="r" b="b" t="t" l="l"/>
            <a:pathLst>
              <a:path h="10152291" w="12819857">
                <a:moveTo>
                  <a:pt x="0" y="0"/>
                </a:moveTo>
                <a:lnTo>
                  <a:pt x="12819857" y="0"/>
                </a:lnTo>
                <a:lnTo>
                  <a:pt x="12819857" y="10152292"/>
                </a:lnTo>
                <a:lnTo>
                  <a:pt x="0" y="10152292"/>
                </a:lnTo>
                <a:lnTo>
                  <a:pt x="0" y="0"/>
                </a:lnTo>
                <a:close/>
              </a:path>
            </a:pathLst>
          </a:custGeom>
          <a:blipFill>
            <a:blip r:embed="rId3"/>
            <a:stretch>
              <a:fillRect l="0" t="0" r="0" b="0"/>
            </a:stretch>
          </a:blipFill>
        </p:spPr>
      </p:sp>
      <p:sp>
        <p:nvSpPr>
          <p:cNvPr name="TextBox 4" id="4"/>
          <p:cNvSpPr txBox="true"/>
          <p:nvPr/>
        </p:nvSpPr>
        <p:spPr>
          <a:xfrm rot="0">
            <a:off x="418377" y="3521075"/>
            <a:ext cx="5219870" cy="1622425"/>
          </a:xfrm>
          <a:prstGeom prst="rect">
            <a:avLst/>
          </a:prstGeom>
        </p:spPr>
        <p:txBody>
          <a:bodyPr anchor="t" rtlCol="false" tIns="0" lIns="0" bIns="0" rIns="0">
            <a:spAutoFit/>
          </a:bodyPr>
          <a:lstStyle/>
          <a:p>
            <a:pPr algn="ctr">
              <a:lnSpc>
                <a:spcPts val="13099"/>
              </a:lnSpc>
              <a:spcBef>
                <a:spcPct val="0"/>
              </a:spcBef>
            </a:pPr>
            <a:r>
              <a:rPr lang="en-US" sz="9999">
                <a:solidFill>
                  <a:srgbClr val="000000"/>
                </a:solidFill>
                <a:latin typeface="Open Sans Extra Bold"/>
                <a:ea typeface="Open Sans Extra Bold"/>
                <a:cs typeface="Open Sans Extra Bold"/>
                <a:sym typeface="Open Sans Extra Bold"/>
              </a:rPr>
              <a:t>SAU</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923925"/>
            <a:ext cx="18288000" cy="1622425"/>
          </a:xfrm>
          <a:prstGeom prst="rect">
            <a:avLst/>
          </a:prstGeom>
        </p:spPr>
        <p:txBody>
          <a:bodyPr anchor="t" rtlCol="false" tIns="0" lIns="0" bIns="0" rIns="0">
            <a:spAutoFit/>
          </a:bodyPr>
          <a:lstStyle/>
          <a:p>
            <a:pPr algn="ctr">
              <a:lnSpc>
                <a:spcPts val="13099"/>
              </a:lnSpc>
            </a:pPr>
            <a:r>
              <a:rPr lang="en-US" sz="9999">
                <a:solidFill>
                  <a:srgbClr val="404040"/>
                </a:solidFill>
                <a:latin typeface="Open Sans Extra Bold"/>
                <a:ea typeface="Open Sans Extra Bold"/>
                <a:cs typeface="Open Sans Extra Bold"/>
                <a:sym typeface="Open Sans Extra Bold"/>
              </a:rPr>
              <a:t>CÁC THUẬT TOÁN SỬ DỤNG</a:t>
            </a:r>
          </a:p>
        </p:txBody>
      </p:sp>
      <p:sp>
        <p:nvSpPr>
          <p:cNvPr name="TextBox 4" id="4"/>
          <p:cNvSpPr txBox="true"/>
          <p:nvPr/>
        </p:nvSpPr>
        <p:spPr>
          <a:xfrm rot="0">
            <a:off x="1028700" y="3139219"/>
            <a:ext cx="16230600" cy="4121151"/>
          </a:xfrm>
          <a:prstGeom prst="rect">
            <a:avLst/>
          </a:prstGeom>
        </p:spPr>
        <p:txBody>
          <a:bodyPr anchor="t" rtlCol="false" tIns="0" lIns="0" bIns="0" rIns="0">
            <a:spAutoFit/>
          </a:bodyPr>
          <a:lstStyle/>
          <a:p>
            <a:pPr algn="l" marL="1079491" indent="-539745" lvl="1">
              <a:lnSpc>
                <a:spcPts val="6549"/>
              </a:lnSpc>
              <a:buAutoNum type="arabicPeriod" startAt="1"/>
            </a:pPr>
            <a:r>
              <a:rPr lang="en-US" sz="4999">
                <a:solidFill>
                  <a:srgbClr val="404040"/>
                </a:solidFill>
                <a:latin typeface="Montserrat"/>
                <a:ea typeface="Montserrat"/>
                <a:cs typeface="Montserrat"/>
                <a:sym typeface="Montserrat"/>
              </a:rPr>
              <a:t> DecisionTreeClassifier</a:t>
            </a:r>
          </a:p>
          <a:p>
            <a:pPr algn="l" marL="1079491" indent="-539745" lvl="1">
              <a:lnSpc>
                <a:spcPts val="6549"/>
              </a:lnSpc>
              <a:buAutoNum type="arabicPeriod" startAt="1"/>
            </a:pPr>
            <a:r>
              <a:rPr lang="en-US" sz="4999">
                <a:solidFill>
                  <a:srgbClr val="404040"/>
                </a:solidFill>
                <a:latin typeface="Montserrat"/>
                <a:ea typeface="Montserrat"/>
                <a:cs typeface="Montserrat"/>
                <a:sym typeface="Montserrat"/>
              </a:rPr>
              <a:t> LogisticRegression</a:t>
            </a:r>
          </a:p>
          <a:p>
            <a:pPr algn="l" marL="1079491" indent="-539745" lvl="1">
              <a:lnSpc>
                <a:spcPts val="6549"/>
              </a:lnSpc>
              <a:buAutoNum type="arabicPeriod" startAt="1"/>
            </a:pPr>
            <a:r>
              <a:rPr lang="en-US" sz="4999">
                <a:solidFill>
                  <a:srgbClr val="404040"/>
                </a:solidFill>
                <a:latin typeface="Montserrat"/>
                <a:ea typeface="Montserrat"/>
                <a:cs typeface="Montserrat"/>
                <a:sym typeface="Montserrat"/>
              </a:rPr>
              <a:t> GaussianNB (Naïve Bayes)</a:t>
            </a:r>
          </a:p>
          <a:p>
            <a:pPr algn="l" marL="1079491" indent="-539745" lvl="1">
              <a:lnSpc>
                <a:spcPts val="6549"/>
              </a:lnSpc>
              <a:buAutoNum type="arabicPeriod" startAt="1"/>
            </a:pPr>
            <a:r>
              <a:rPr lang="en-US" sz="4999">
                <a:solidFill>
                  <a:srgbClr val="404040"/>
                </a:solidFill>
                <a:latin typeface="Montserrat"/>
                <a:ea typeface="Montserrat"/>
                <a:cs typeface="Montserrat"/>
                <a:sym typeface="Montserrat"/>
              </a:rPr>
              <a:t> KNeighborsClassifier (KNN)</a:t>
            </a:r>
          </a:p>
          <a:p>
            <a:pPr algn="l" marL="1079491" indent="-539745" lvl="1">
              <a:lnSpc>
                <a:spcPts val="6549"/>
              </a:lnSpc>
              <a:spcBef>
                <a:spcPct val="0"/>
              </a:spcBef>
              <a:buAutoNum type="arabicPeriod" startAt="1"/>
            </a:pPr>
            <a:r>
              <a:rPr lang="en-US" sz="4999">
                <a:solidFill>
                  <a:srgbClr val="404040"/>
                </a:solidFill>
                <a:latin typeface="Montserrat"/>
                <a:ea typeface="Montserrat"/>
                <a:cs typeface="Montserrat"/>
                <a:sym typeface="Montserrat"/>
              </a:rPr>
              <a:t> RandomForestClassifier</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4.1. DecisionTreeClassifier</a:t>
            </a:r>
          </a:p>
        </p:txBody>
      </p:sp>
      <p:sp>
        <p:nvSpPr>
          <p:cNvPr name="TextBox 4" id="4"/>
          <p:cNvSpPr txBox="true"/>
          <p:nvPr/>
        </p:nvSpPr>
        <p:spPr>
          <a:xfrm rot="0">
            <a:off x="1028700" y="3148744"/>
            <a:ext cx="16230600" cy="5048377"/>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0.4059</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Precision, Recall, F1-score (cho các nhãn):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Fatal: Precision: 0.48, Recall: 0.37, F1-score: 0.42</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Serious: Precision: 0.36, Recall: 0.57, F1-score: 0.44</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Slight: Precision: 0.42, Recall: 0.28, F1-score: 0.34</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Mô hình DecisionTreeClassifier có độ chính xác và F1-score tương đối ổn định, nhưng vẫn có sự thiên lệch về các lớp (label). Mức độ "Fatal" có độ chính xác cao hơn, nhưng Recall và F1-score ở các lớp khác chưa đạt mức tốt.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1324625"/>
            <a:ext cx="18288000" cy="7637750"/>
          </a:xfrm>
          <a:custGeom>
            <a:avLst/>
            <a:gdLst/>
            <a:ahLst/>
            <a:cxnLst/>
            <a:rect r="r" b="b" t="t" l="l"/>
            <a:pathLst>
              <a:path h="7637750" w="18288000">
                <a:moveTo>
                  <a:pt x="0" y="0"/>
                </a:moveTo>
                <a:lnTo>
                  <a:pt x="18288000" y="0"/>
                </a:lnTo>
                <a:lnTo>
                  <a:pt x="18288000" y="7637750"/>
                </a:lnTo>
                <a:lnTo>
                  <a:pt x="0" y="7637750"/>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2526511" y="0"/>
            <a:ext cx="13234978" cy="10287000"/>
          </a:xfrm>
          <a:custGeom>
            <a:avLst/>
            <a:gdLst/>
            <a:ahLst/>
            <a:cxnLst/>
            <a:rect r="r" b="b" t="t" l="l"/>
            <a:pathLst>
              <a:path h="10287000" w="13234978">
                <a:moveTo>
                  <a:pt x="0" y="0"/>
                </a:moveTo>
                <a:lnTo>
                  <a:pt x="13234978" y="0"/>
                </a:lnTo>
                <a:lnTo>
                  <a:pt x="13234978" y="10287000"/>
                </a:lnTo>
                <a:lnTo>
                  <a:pt x="0" y="10287000"/>
                </a:lnTo>
                <a:lnTo>
                  <a:pt x="0" y="0"/>
                </a:lnTo>
                <a:close/>
              </a:path>
            </a:pathLst>
          </a:custGeom>
          <a:blipFill>
            <a:blip r:embed="rId3"/>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4.2. LogisticRegression</a:t>
            </a:r>
          </a:p>
        </p:txBody>
      </p:sp>
      <p:sp>
        <p:nvSpPr>
          <p:cNvPr name="TextBox 4" id="4"/>
          <p:cNvSpPr txBox="true"/>
          <p:nvPr/>
        </p:nvSpPr>
        <p:spPr>
          <a:xfrm rot="0">
            <a:off x="1028700" y="3148744"/>
            <a:ext cx="16230600" cy="4486402"/>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0.3733 </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Precision, Recall, F1-score (cho các nhãn):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Fatal: Precision: 0.38, Recall: 0.36, F1-score: 0.37</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Serious: Precision: 0.36, Recall: 0.55, F1-score: 0.43</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Slight: Precision: 0.42, Recall: 0.21, F1-score: 0.28</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Logistic Regression cho thấy độ chính xác thấp và không mạnh trong việc phân loại các mức độ nghiêm trọng. Các giá trị Precision và Recall cũng không được đồng đều và có sự sai lệch rõ rệt giữa các lớp.</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852971"/>
            <a:ext cx="18288000" cy="8581058"/>
          </a:xfrm>
          <a:custGeom>
            <a:avLst/>
            <a:gdLst/>
            <a:ahLst/>
            <a:cxnLst/>
            <a:rect r="r" b="b" t="t" l="l"/>
            <a:pathLst>
              <a:path h="8581058" w="18288000">
                <a:moveTo>
                  <a:pt x="0" y="0"/>
                </a:moveTo>
                <a:lnTo>
                  <a:pt x="18288000" y="0"/>
                </a:lnTo>
                <a:lnTo>
                  <a:pt x="18288000" y="8581058"/>
                </a:lnTo>
                <a:lnTo>
                  <a:pt x="0" y="8581058"/>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1473421" y="0"/>
            <a:ext cx="15341159" cy="10287000"/>
          </a:xfrm>
          <a:custGeom>
            <a:avLst/>
            <a:gdLst/>
            <a:ahLst/>
            <a:cxnLst/>
            <a:rect r="r" b="b" t="t" l="l"/>
            <a:pathLst>
              <a:path h="10287000" w="15341159">
                <a:moveTo>
                  <a:pt x="0" y="0"/>
                </a:moveTo>
                <a:lnTo>
                  <a:pt x="15341158" y="0"/>
                </a:lnTo>
                <a:lnTo>
                  <a:pt x="15341158" y="10287000"/>
                </a:lnTo>
                <a:lnTo>
                  <a:pt x="0" y="10287000"/>
                </a:lnTo>
                <a:lnTo>
                  <a:pt x="0" y="0"/>
                </a:lnTo>
                <a:close/>
              </a:path>
            </a:pathLst>
          </a:custGeom>
          <a:blipFill>
            <a:blip r:embed="rId3"/>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1172478"/>
            <a:ext cx="18288000" cy="7942043"/>
          </a:xfrm>
          <a:custGeom>
            <a:avLst/>
            <a:gdLst/>
            <a:ahLst/>
            <a:cxnLst/>
            <a:rect r="r" b="b" t="t" l="l"/>
            <a:pathLst>
              <a:path h="7942043" w="18288000">
                <a:moveTo>
                  <a:pt x="0" y="0"/>
                </a:moveTo>
                <a:lnTo>
                  <a:pt x="18288000" y="0"/>
                </a:lnTo>
                <a:lnTo>
                  <a:pt x="18288000" y="7942044"/>
                </a:lnTo>
                <a:lnTo>
                  <a:pt x="0" y="7942044"/>
                </a:lnTo>
                <a:lnTo>
                  <a:pt x="0" y="0"/>
                </a:lnTo>
                <a:close/>
              </a:path>
            </a:pathLst>
          </a:custGeom>
          <a:blipFill>
            <a:blip r:embed="rId3"/>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4.3. GaussianNB (Naïve Bayes)</a:t>
            </a:r>
          </a:p>
        </p:txBody>
      </p:sp>
      <p:sp>
        <p:nvSpPr>
          <p:cNvPr name="TextBox 4" id="4"/>
          <p:cNvSpPr txBox="true"/>
          <p:nvPr/>
        </p:nvSpPr>
        <p:spPr>
          <a:xfrm rot="0">
            <a:off x="1028700" y="3148744"/>
            <a:ext cx="16230600" cy="4486402"/>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0.3698  </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Precision, Recall, F1-score (cho các nhãn):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Fatal: Precision: 0.40, Recall: 0.29, F1-score: 0.33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Serious: Precision: 0.35, Recall: 0.66, F1-score: 0.46</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Slight: Precision: 0.40, Recall: 0.17, F1-score: 0.24</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Naïve Bayes có độ chính xác rất thấp, đặc biệt là đối với lớp "Slight", với Recall chỉ đạt 0.17. Mặc dù có sự cải thiện về recall cho lớp "Serious", nhưng nhìn chung hiệu suất của mô hình này chưa tốt.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756227"/>
            <a:ext cx="18288000" cy="8774545"/>
          </a:xfrm>
          <a:custGeom>
            <a:avLst/>
            <a:gdLst/>
            <a:ahLst/>
            <a:cxnLst/>
            <a:rect r="r" b="b" t="t" l="l"/>
            <a:pathLst>
              <a:path h="8774545" w="18288000">
                <a:moveTo>
                  <a:pt x="0" y="0"/>
                </a:moveTo>
                <a:lnTo>
                  <a:pt x="18288000" y="0"/>
                </a:lnTo>
                <a:lnTo>
                  <a:pt x="18288000" y="8774546"/>
                </a:lnTo>
                <a:lnTo>
                  <a:pt x="0" y="8774546"/>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900684" y="0"/>
            <a:ext cx="16486632" cy="10287000"/>
          </a:xfrm>
          <a:custGeom>
            <a:avLst/>
            <a:gdLst/>
            <a:ahLst/>
            <a:cxnLst/>
            <a:rect r="r" b="b" t="t" l="l"/>
            <a:pathLst>
              <a:path h="10287000" w="16486632">
                <a:moveTo>
                  <a:pt x="0" y="0"/>
                </a:moveTo>
                <a:lnTo>
                  <a:pt x="16486632" y="0"/>
                </a:lnTo>
                <a:lnTo>
                  <a:pt x="16486632" y="10287000"/>
                </a:lnTo>
                <a:lnTo>
                  <a:pt x="0" y="10287000"/>
                </a:lnTo>
                <a:lnTo>
                  <a:pt x="0" y="0"/>
                </a:lnTo>
                <a:close/>
              </a:path>
            </a:pathLst>
          </a:custGeom>
          <a:blipFill>
            <a:blip r:embed="rId3"/>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639966"/>
            <a:ext cx="18288000" cy="9007068"/>
          </a:xfrm>
          <a:custGeom>
            <a:avLst/>
            <a:gdLst/>
            <a:ahLst/>
            <a:cxnLst/>
            <a:rect r="r" b="b" t="t" l="l"/>
            <a:pathLst>
              <a:path h="9007068" w="18288000">
                <a:moveTo>
                  <a:pt x="0" y="0"/>
                </a:moveTo>
                <a:lnTo>
                  <a:pt x="18288000" y="0"/>
                </a:lnTo>
                <a:lnTo>
                  <a:pt x="18288000" y="9007068"/>
                </a:lnTo>
                <a:lnTo>
                  <a:pt x="0" y="9007068"/>
                </a:lnTo>
                <a:lnTo>
                  <a:pt x="0" y="0"/>
                </a:lnTo>
                <a:close/>
              </a:path>
            </a:pathLst>
          </a:custGeom>
          <a:blipFill>
            <a:blip r:embed="rId3"/>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4.4. KNeighborsClassifier (KNN)</a:t>
            </a:r>
          </a:p>
        </p:txBody>
      </p:sp>
      <p:sp>
        <p:nvSpPr>
          <p:cNvPr name="TextBox 4" id="4"/>
          <p:cNvSpPr txBox="true"/>
          <p:nvPr/>
        </p:nvSpPr>
        <p:spPr>
          <a:xfrm rot="0">
            <a:off x="1028700" y="3148744"/>
            <a:ext cx="16230600" cy="5048377"/>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0.3732  </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Precision, Recall, F1-score (cho các nhãn):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Fatal: Precision: 0.42, Recall: 0.26, F1-score: 0.32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Serious: Precision: 0.33, Recall: 0.19, F1-score: 0.24 </a:t>
            </a:r>
          </a:p>
          <a:p>
            <a:pPr algn="l" marL="1468119" indent="-489373" lvl="2">
              <a:lnSpc>
                <a:spcPts val="4453"/>
              </a:lnSpc>
              <a:buFont typeface="Arial"/>
              <a:buChar char="⚬"/>
            </a:pPr>
            <a:r>
              <a:rPr lang="en-US" sz="3399">
                <a:solidFill>
                  <a:srgbClr val="404040"/>
                </a:solidFill>
                <a:latin typeface="Montserrat"/>
                <a:ea typeface="Montserrat"/>
                <a:cs typeface="Montserrat"/>
                <a:sym typeface="Montserrat"/>
              </a:rPr>
              <a:t>Slight: Precision: 0.37, Recall: 0.67, F1-score: 0.48</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Mô hình KNN có độ chính xác khá thấp nhưng lại thể hiện khá tốt ở lớp "Slight" với Recall lên đến 0.67. Mặc dù vậy, độ chính xác của mô hình này không đồng đều và chưa thể phân loại tốt các lớp khác ngoài "Slight".</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1446342"/>
            <a:ext cx="18288000" cy="7394316"/>
          </a:xfrm>
          <a:custGeom>
            <a:avLst/>
            <a:gdLst/>
            <a:ahLst/>
            <a:cxnLst/>
            <a:rect r="r" b="b" t="t" l="l"/>
            <a:pathLst>
              <a:path h="7394316" w="18288000">
                <a:moveTo>
                  <a:pt x="0" y="0"/>
                </a:moveTo>
                <a:lnTo>
                  <a:pt x="18288000" y="0"/>
                </a:lnTo>
                <a:lnTo>
                  <a:pt x="18288000" y="7394316"/>
                </a:lnTo>
                <a:lnTo>
                  <a:pt x="0" y="7394316"/>
                </a:lnTo>
                <a:lnTo>
                  <a:pt x="0" y="0"/>
                </a:lnTo>
                <a:close/>
              </a:path>
            </a:pathLst>
          </a:custGeom>
          <a:blipFill>
            <a:blip r:embed="rId3"/>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486888" y="0"/>
            <a:ext cx="17314223" cy="10287000"/>
          </a:xfrm>
          <a:custGeom>
            <a:avLst/>
            <a:gdLst/>
            <a:ahLst/>
            <a:cxnLst/>
            <a:rect r="r" b="b" t="t" l="l"/>
            <a:pathLst>
              <a:path h="10287000" w="17314223">
                <a:moveTo>
                  <a:pt x="0" y="0"/>
                </a:moveTo>
                <a:lnTo>
                  <a:pt x="17314224" y="0"/>
                </a:lnTo>
                <a:lnTo>
                  <a:pt x="17314224" y="10287000"/>
                </a:lnTo>
                <a:lnTo>
                  <a:pt x="0" y="10287000"/>
                </a:lnTo>
                <a:lnTo>
                  <a:pt x="0" y="0"/>
                </a:lnTo>
                <a:close/>
              </a:path>
            </a:pathLst>
          </a:custGeom>
          <a:blipFill>
            <a:blip r:embed="rId3"/>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761683"/>
            <a:ext cx="18288000" cy="8763634"/>
          </a:xfrm>
          <a:custGeom>
            <a:avLst/>
            <a:gdLst/>
            <a:ahLst/>
            <a:cxnLst/>
            <a:rect r="r" b="b" t="t" l="l"/>
            <a:pathLst>
              <a:path h="8763634" w="18288000">
                <a:moveTo>
                  <a:pt x="0" y="0"/>
                </a:moveTo>
                <a:lnTo>
                  <a:pt x="18288000" y="0"/>
                </a:lnTo>
                <a:lnTo>
                  <a:pt x="18288000" y="8763634"/>
                </a:lnTo>
                <a:lnTo>
                  <a:pt x="0" y="8763634"/>
                </a:lnTo>
                <a:lnTo>
                  <a:pt x="0" y="0"/>
                </a:lnTo>
                <a:close/>
              </a:path>
            </a:pathLst>
          </a:custGeom>
          <a:blipFill>
            <a:blip r:embed="rId3"/>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4.5. RandomForestClassifier</a:t>
            </a:r>
          </a:p>
        </p:txBody>
      </p:sp>
      <p:sp>
        <p:nvSpPr>
          <p:cNvPr name="TextBox 4" id="4"/>
          <p:cNvSpPr txBox="true"/>
          <p:nvPr/>
        </p:nvSpPr>
        <p:spPr>
          <a:xfrm rot="0">
            <a:off x="1028700" y="3148744"/>
            <a:ext cx="16230600" cy="3924427"/>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(Training): 0.4194</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Accuracy (Test): 0.4054</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Dự đoán: Fatal</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Mô hình RandomForestClassifier có độ chính xác cao hơn so với các mô hình còn lại trong tập huấn luyện, tuy nhiên, trên tập kiểm tra, hiệu suất giảm nhẹ nhưng vẫn tương đối cao. Dự đoán chủ yếu tập trung vào mức độ "Fatal".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0" y="3076302"/>
            <a:ext cx="18288000" cy="3621085"/>
          </a:xfrm>
          <a:custGeom>
            <a:avLst/>
            <a:gdLst/>
            <a:ahLst/>
            <a:cxnLst/>
            <a:rect r="r" b="b" t="t" l="l"/>
            <a:pathLst>
              <a:path h="3621085" w="18288000">
                <a:moveTo>
                  <a:pt x="0" y="0"/>
                </a:moveTo>
                <a:lnTo>
                  <a:pt x="18288000" y="0"/>
                </a:lnTo>
                <a:lnTo>
                  <a:pt x="18288000" y="3621085"/>
                </a:lnTo>
                <a:lnTo>
                  <a:pt x="0" y="3621085"/>
                </a:lnTo>
                <a:lnTo>
                  <a:pt x="0" y="0"/>
                </a:lnTo>
                <a:close/>
              </a:path>
            </a:pathLst>
          </a:custGeom>
          <a:blipFill>
            <a:blip r:embed="rId3"/>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2663406" y="0"/>
            <a:ext cx="12961189" cy="10287000"/>
          </a:xfrm>
          <a:custGeom>
            <a:avLst/>
            <a:gdLst/>
            <a:ahLst/>
            <a:cxnLst/>
            <a:rect r="r" b="b" t="t" l="l"/>
            <a:pathLst>
              <a:path h="10287000" w="12961189">
                <a:moveTo>
                  <a:pt x="0" y="0"/>
                </a:moveTo>
                <a:lnTo>
                  <a:pt x="12961188" y="0"/>
                </a:lnTo>
                <a:lnTo>
                  <a:pt x="12961188" y="10287000"/>
                </a:lnTo>
                <a:lnTo>
                  <a:pt x="0" y="10287000"/>
                </a:lnTo>
                <a:lnTo>
                  <a:pt x="0" y="0"/>
                </a:lnTo>
                <a:close/>
              </a:path>
            </a:pathLst>
          </a:custGeom>
          <a:blipFill>
            <a:blip r:embed="rId3"/>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TextBox 3" id="3"/>
          <p:cNvSpPr txBox="true"/>
          <p:nvPr/>
        </p:nvSpPr>
        <p:spPr>
          <a:xfrm rot="0">
            <a:off x="0" y="1160150"/>
            <a:ext cx="18288000" cy="1386200"/>
          </a:xfrm>
          <a:prstGeom prst="rect">
            <a:avLst/>
          </a:prstGeom>
        </p:spPr>
        <p:txBody>
          <a:bodyPr anchor="t" rtlCol="false" tIns="0" lIns="0" bIns="0" rIns="0">
            <a:spAutoFit/>
          </a:bodyPr>
          <a:lstStyle/>
          <a:p>
            <a:pPr algn="ctr">
              <a:lnSpc>
                <a:spcPts val="11135"/>
              </a:lnSpc>
            </a:pPr>
            <a:r>
              <a:rPr lang="en-US" sz="8500">
                <a:solidFill>
                  <a:srgbClr val="404040"/>
                </a:solidFill>
                <a:latin typeface="Open Sans Extra Bold"/>
                <a:ea typeface="Open Sans Extra Bold"/>
                <a:cs typeface="Open Sans Extra Bold"/>
                <a:sym typeface="Open Sans Extra Bold"/>
              </a:rPr>
              <a:t>KẾT LUẬN</a:t>
            </a:r>
          </a:p>
        </p:txBody>
      </p:sp>
      <p:sp>
        <p:nvSpPr>
          <p:cNvPr name="TextBox 4" id="4"/>
          <p:cNvSpPr txBox="true"/>
          <p:nvPr/>
        </p:nvSpPr>
        <p:spPr>
          <a:xfrm rot="0">
            <a:off x="1028700" y="3148744"/>
            <a:ext cx="16230600" cy="5048377"/>
          </a:xfrm>
          <a:prstGeom prst="rect">
            <a:avLst/>
          </a:prstGeom>
        </p:spPr>
        <p:txBody>
          <a:bodyPr anchor="t" rtlCol="false" tIns="0" lIns="0" bIns="0" rIns="0">
            <a:spAutoFit/>
          </a:bodyPr>
          <a:lstStyle/>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Mô hình tốt nhất: </a:t>
            </a:r>
            <a:r>
              <a:rPr lang="en-US" b="true" sz="3399" i="true">
                <a:solidFill>
                  <a:srgbClr val="404040"/>
                </a:solidFill>
                <a:latin typeface="Montserrat Bold Italics"/>
                <a:ea typeface="Montserrat Bold Italics"/>
                <a:cs typeface="Montserrat Bold Italics"/>
                <a:sym typeface="Montserrat Bold Italics"/>
              </a:rPr>
              <a:t>RandomForestClassifier</a:t>
            </a:r>
            <a:r>
              <a:rPr lang="en-US" sz="3399" i="true">
                <a:solidFill>
                  <a:srgbClr val="404040"/>
                </a:solidFill>
                <a:latin typeface="Montserrat Italics"/>
                <a:ea typeface="Montserrat Italics"/>
                <a:cs typeface="Montserrat Italics"/>
                <a:sym typeface="Montserrat Italics"/>
              </a:rPr>
              <a:t> </a:t>
            </a:r>
            <a:r>
              <a:rPr lang="en-US" sz="3399">
                <a:solidFill>
                  <a:srgbClr val="404040"/>
                </a:solidFill>
                <a:latin typeface="Montserrat"/>
                <a:ea typeface="Montserrat"/>
                <a:cs typeface="Montserrat"/>
                <a:sym typeface="Montserrat"/>
              </a:rPr>
              <a:t>có độ chính xác cao nhất và cho kết quả ổn định trong cả huấn luyện và kiểm tra. Mặc dù mô hình này có thiên lệch khi dự đoán "Fatal", nhưng đây là mô hình mạnh nhất trong bộ.</a:t>
            </a:r>
          </a:p>
          <a:p>
            <a:pPr algn="l" marL="734059" indent="-367030" lvl="1">
              <a:lnSpc>
                <a:spcPts val="4453"/>
              </a:lnSpc>
              <a:buFont typeface="Arial"/>
              <a:buChar char="•"/>
            </a:pPr>
            <a:r>
              <a:rPr lang="en-US" sz="3399">
                <a:solidFill>
                  <a:srgbClr val="404040"/>
                </a:solidFill>
                <a:latin typeface="Montserrat"/>
                <a:ea typeface="Montserrat"/>
                <a:cs typeface="Montserrat"/>
                <a:sym typeface="Montserrat"/>
              </a:rPr>
              <a:t>Mô hình cần cải thiện: </a:t>
            </a:r>
            <a:r>
              <a:rPr lang="en-US" b="true" sz="3399" i="true">
                <a:solidFill>
                  <a:srgbClr val="404040"/>
                </a:solidFill>
                <a:latin typeface="Montserrat Bold Italics"/>
                <a:ea typeface="Montserrat Bold Italics"/>
                <a:cs typeface="Montserrat Bold Italics"/>
                <a:sym typeface="Montserrat Bold Italics"/>
              </a:rPr>
              <a:t>LogisticRegression</a:t>
            </a:r>
            <a:r>
              <a:rPr lang="en-US" b="true" sz="3399">
                <a:solidFill>
                  <a:srgbClr val="404040"/>
                </a:solidFill>
                <a:latin typeface="Montserrat Bold"/>
                <a:ea typeface="Montserrat Bold"/>
                <a:cs typeface="Montserrat Bold"/>
                <a:sym typeface="Montserrat Bold"/>
              </a:rPr>
              <a:t> </a:t>
            </a:r>
            <a:r>
              <a:rPr lang="en-US" sz="3399">
                <a:solidFill>
                  <a:srgbClr val="404040"/>
                </a:solidFill>
                <a:latin typeface="Montserrat"/>
                <a:ea typeface="Montserrat"/>
                <a:cs typeface="Montserrat"/>
                <a:sym typeface="Montserrat"/>
              </a:rPr>
              <a:t>và </a:t>
            </a:r>
            <a:r>
              <a:rPr lang="en-US" b="true" sz="3399" i="true">
                <a:solidFill>
                  <a:srgbClr val="404040"/>
                </a:solidFill>
                <a:latin typeface="Montserrat Bold Italics"/>
                <a:ea typeface="Montserrat Bold Italics"/>
                <a:cs typeface="Montserrat Bold Italics"/>
                <a:sym typeface="Montserrat Bold Italics"/>
              </a:rPr>
              <a:t>GaussianNB</a:t>
            </a:r>
            <a:r>
              <a:rPr lang="en-US" sz="3399">
                <a:solidFill>
                  <a:srgbClr val="404040"/>
                </a:solidFill>
                <a:latin typeface="Montserrat"/>
                <a:ea typeface="Montserrat"/>
                <a:cs typeface="Montserrat"/>
                <a:sym typeface="Montserrat"/>
              </a:rPr>
              <a:t> có độ chính xác và F1-score khá thấp, với sự sai lệch lớn giữa các lớp, đặc biệt là ở lớp "Slight". Cần cải thiện khả năng phân loại và hiệu quả của các mô hình này.</a:t>
            </a:r>
          </a:p>
          <a:p>
            <a:pPr algn="l">
              <a:lnSpc>
                <a:spcPts val="4453"/>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0429" t="0" r="-70429" b="0"/>
            </a:stretch>
          </a:blipFill>
        </p:spPr>
      </p:sp>
      <p:sp>
        <p:nvSpPr>
          <p:cNvPr name="Freeform 3" id="3"/>
          <p:cNvSpPr/>
          <p:nvPr/>
        </p:nvSpPr>
        <p:spPr>
          <a:xfrm flipH="false" flipV="false" rot="0">
            <a:off x="-1214591" y="-653351"/>
            <a:ext cx="3335222" cy="3026714"/>
          </a:xfrm>
          <a:custGeom>
            <a:avLst/>
            <a:gdLst/>
            <a:ahLst/>
            <a:cxnLst/>
            <a:rect r="r" b="b" t="t" l="l"/>
            <a:pathLst>
              <a:path h="3026714" w="3335222">
                <a:moveTo>
                  <a:pt x="0" y="0"/>
                </a:moveTo>
                <a:lnTo>
                  <a:pt x="3335222" y="0"/>
                </a:lnTo>
                <a:lnTo>
                  <a:pt x="3335222" y="3026714"/>
                </a:lnTo>
                <a:lnTo>
                  <a:pt x="0" y="3026714"/>
                </a:lnTo>
                <a:lnTo>
                  <a:pt x="0" y="0"/>
                </a:lnTo>
                <a:close/>
              </a:path>
            </a:pathLst>
          </a:custGeom>
          <a:blipFill>
            <a:blip r:embed="rId3"/>
            <a:stretch>
              <a:fillRect l="0" t="0" r="0" b="0"/>
            </a:stretch>
          </a:blipFill>
        </p:spPr>
      </p:sp>
      <p:sp>
        <p:nvSpPr>
          <p:cNvPr name="Freeform 4" id="4"/>
          <p:cNvSpPr/>
          <p:nvPr/>
        </p:nvSpPr>
        <p:spPr>
          <a:xfrm flipH="false" flipV="false" rot="0">
            <a:off x="2777434" y="-1093686"/>
            <a:ext cx="2669512" cy="2469299"/>
          </a:xfrm>
          <a:custGeom>
            <a:avLst/>
            <a:gdLst/>
            <a:ahLst/>
            <a:cxnLst/>
            <a:rect r="r" b="b" t="t" l="l"/>
            <a:pathLst>
              <a:path h="2469299" w="2669512">
                <a:moveTo>
                  <a:pt x="0" y="0"/>
                </a:moveTo>
                <a:lnTo>
                  <a:pt x="2669513" y="0"/>
                </a:lnTo>
                <a:lnTo>
                  <a:pt x="2669513" y="2469299"/>
                </a:lnTo>
                <a:lnTo>
                  <a:pt x="0" y="2469299"/>
                </a:lnTo>
                <a:lnTo>
                  <a:pt x="0" y="0"/>
                </a:lnTo>
                <a:close/>
              </a:path>
            </a:pathLst>
          </a:custGeom>
          <a:blipFill>
            <a:blip r:embed="rId4"/>
            <a:stretch>
              <a:fillRect l="0" t="0" r="0" b="0"/>
            </a:stretch>
          </a:blipFill>
        </p:spPr>
      </p:sp>
      <p:sp>
        <p:nvSpPr>
          <p:cNvPr name="Freeform 5" id="5"/>
          <p:cNvSpPr/>
          <p:nvPr/>
        </p:nvSpPr>
        <p:spPr>
          <a:xfrm flipH="false" flipV="false" rot="0">
            <a:off x="16323134" y="8156869"/>
            <a:ext cx="2436684" cy="2692468"/>
          </a:xfrm>
          <a:custGeom>
            <a:avLst/>
            <a:gdLst/>
            <a:ahLst/>
            <a:cxnLst/>
            <a:rect r="r" b="b" t="t" l="l"/>
            <a:pathLst>
              <a:path h="2692468" w="2436684">
                <a:moveTo>
                  <a:pt x="0" y="0"/>
                </a:moveTo>
                <a:lnTo>
                  <a:pt x="2436684" y="0"/>
                </a:lnTo>
                <a:lnTo>
                  <a:pt x="2436684" y="2692469"/>
                </a:lnTo>
                <a:lnTo>
                  <a:pt x="0" y="2692469"/>
                </a:lnTo>
                <a:lnTo>
                  <a:pt x="0" y="0"/>
                </a:lnTo>
                <a:close/>
              </a:path>
            </a:pathLst>
          </a:custGeom>
          <a:blipFill>
            <a:blip r:embed="rId5"/>
            <a:stretch>
              <a:fillRect l="0" t="0" r="0" b="0"/>
            </a:stretch>
          </a:blipFill>
        </p:spPr>
      </p:sp>
      <p:sp>
        <p:nvSpPr>
          <p:cNvPr name="Freeform 6" id="6"/>
          <p:cNvSpPr/>
          <p:nvPr/>
        </p:nvSpPr>
        <p:spPr>
          <a:xfrm flipH="false" flipV="false" rot="2523674">
            <a:off x="8574628" y="8547243"/>
            <a:ext cx="3966278" cy="3822501"/>
          </a:xfrm>
          <a:custGeom>
            <a:avLst/>
            <a:gdLst/>
            <a:ahLst/>
            <a:cxnLst/>
            <a:rect r="r" b="b" t="t" l="l"/>
            <a:pathLst>
              <a:path h="3822501" w="3966278">
                <a:moveTo>
                  <a:pt x="0" y="0"/>
                </a:moveTo>
                <a:lnTo>
                  <a:pt x="3966278" y="0"/>
                </a:lnTo>
                <a:lnTo>
                  <a:pt x="3966278" y="3822501"/>
                </a:lnTo>
                <a:lnTo>
                  <a:pt x="0" y="3822501"/>
                </a:lnTo>
                <a:lnTo>
                  <a:pt x="0" y="0"/>
                </a:lnTo>
                <a:close/>
              </a:path>
            </a:pathLst>
          </a:custGeom>
          <a:blipFill>
            <a:blip r:embed="rId6"/>
            <a:stretch>
              <a:fillRect l="0" t="0" r="0" b="0"/>
            </a:stretch>
          </a:blipFill>
        </p:spPr>
      </p:sp>
      <p:sp>
        <p:nvSpPr>
          <p:cNvPr name="Freeform 7" id="7"/>
          <p:cNvSpPr/>
          <p:nvPr/>
        </p:nvSpPr>
        <p:spPr>
          <a:xfrm flipH="false" flipV="false" rot="0">
            <a:off x="13748651" y="8858795"/>
            <a:ext cx="2268425" cy="1990543"/>
          </a:xfrm>
          <a:custGeom>
            <a:avLst/>
            <a:gdLst/>
            <a:ahLst/>
            <a:cxnLst/>
            <a:rect r="r" b="b" t="t" l="l"/>
            <a:pathLst>
              <a:path h="1990543" w="2268425">
                <a:moveTo>
                  <a:pt x="0" y="0"/>
                </a:moveTo>
                <a:lnTo>
                  <a:pt x="2268425" y="0"/>
                </a:lnTo>
                <a:lnTo>
                  <a:pt x="2268425" y="1990543"/>
                </a:lnTo>
                <a:lnTo>
                  <a:pt x="0" y="1990543"/>
                </a:lnTo>
                <a:lnTo>
                  <a:pt x="0" y="0"/>
                </a:lnTo>
                <a:close/>
              </a:path>
            </a:pathLst>
          </a:custGeom>
          <a:blipFill>
            <a:blip r:embed="rId7"/>
            <a:stretch>
              <a:fillRect l="0" t="0" r="0" b="0"/>
            </a:stretch>
          </a:blipFill>
        </p:spPr>
      </p:sp>
      <p:sp>
        <p:nvSpPr>
          <p:cNvPr name="Freeform 8" id="8"/>
          <p:cNvSpPr/>
          <p:nvPr/>
        </p:nvSpPr>
        <p:spPr>
          <a:xfrm flipH="false" flipV="false" rot="-2829396">
            <a:off x="16595204" y="61939"/>
            <a:ext cx="3367561" cy="3245487"/>
          </a:xfrm>
          <a:custGeom>
            <a:avLst/>
            <a:gdLst/>
            <a:ahLst/>
            <a:cxnLst/>
            <a:rect r="r" b="b" t="t" l="l"/>
            <a:pathLst>
              <a:path h="3245487" w="3367561">
                <a:moveTo>
                  <a:pt x="0" y="0"/>
                </a:moveTo>
                <a:lnTo>
                  <a:pt x="3367561" y="0"/>
                </a:lnTo>
                <a:lnTo>
                  <a:pt x="3367561" y="3245487"/>
                </a:lnTo>
                <a:lnTo>
                  <a:pt x="0" y="3245487"/>
                </a:lnTo>
                <a:lnTo>
                  <a:pt x="0" y="0"/>
                </a:lnTo>
                <a:close/>
              </a:path>
            </a:pathLst>
          </a:custGeom>
          <a:blipFill>
            <a:blip r:embed="rId6"/>
            <a:stretch>
              <a:fillRect l="0" t="0" r="0" b="0"/>
            </a:stretch>
          </a:blipFill>
        </p:spPr>
      </p:sp>
      <p:sp>
        <p:nvSpPr>
          <p:cNvPr name="Freeform 9" id="9"/>
          <p:cNvSpPr/>
          <p:nvPr/>
        </p:nvSpPr>
        <p:spPr>
          <a:xfrm flipH="false" flipV="false" rot="0">
            <a:off x="-1214591" y="3572091"/>
            <a:ext cx="2429181" cy="4015176"/>
          </a:xfrm>
          <a:custGeom>
            <a:avLst/>
            <a:gdLst/>
            <a:ahLst/>
            <a:cxnLst/>
            <a:rect r="r" b="b" t="t" l="l"/>
            <a:pathLst>
              <a:path h="4015176" w="2429181">
                <a:moveTo>
                  <a:pt x="0" y="0"/>
                </a:moveTo>
                <a:lnTo>
                  <a:pt x="2429182" y="0"/>
                </a:lnTo>
                <a:lnTo>
                  <a:pt x="2429182" y="4015176"/>
                </a:lnTo>
                <a:lnTo>
                  <a:pt x="0" y="4015176"/>
                </a:lnTo>
                <a:lnTo>
                  <a:pt x="0" y="0"/>
                </a:lnTo>
                <a:close/>
              </a:path>
            </a:pathLst>
          </a:custGeom>
          <a:blipFill>
            <a:blip r:embed="rId8"/>
            <a:stretch>
              <a:fillRect l="0" t="0" r="0" b="0"/>
            </a:stretch>
          </a:blipFill>
        </p:spPr>
      </p:sp>
      <p:sp>
        <p:nvSpPr>
          <p:cNvPr name="Freeform 10" id="10"/>
          <p:cNvSpPr/>
          <p:nvPr/>
        </p:nvSpPr>
        <p:spPr>
          <a:xfrm flipH="false" flipV="false" rot="0">
            <a:off x="16736567" y="4592514"/>
            <a:ext cx="3102866" cy="3118458"/>
          </a:xfrm>
          <a:custGeom>
            <a:avLst/>
            <a:gdLst/>
            <a:ahLst/>
            <a:cxnLst/>
            <a:rect r="r" b="b" t="t" l="l"/>
            <a:pathLst>
              <a:path h="3118458" w="3102866">
                <a:moveTo>
                  <a:pt x="0" y="0"/>
                </a:moveTo>
                <a:lnTo>
                  <a:pt x="3102866" y="0"/>
                </a:lnTo>
                <a:lnTo>
                  <a:pt x="3102866" y="3118458"/>
                </a:lnTo>
                <a:lnTo>
                  <a:pt x="0" y="3118458"/>
                </a:lnTo>
                <a:lnTo>
                  <a:pt x="0" y="0"/>
                </a:lnTo>
                <a:close/>
              </a:path>
            </a:pathLst>
          </a:custGeom>
          <a:blipFill>
            <a:blip r:embed="rId9"/>
            <a:stretch>
              <a:fillRect l="0" t="0" r="0" b="0"/>
            </a:stretch>
          </a:blipFill>
        </p:spPr>
      </p:sp>
      <p:sp>
        <p:nvSpPr>
          <p:cNvPr name="Freeform 11" id="11"/>
          <p:cNvSpPr/>
          <p:nvPr/>
        </p:nvSpPr>
        <p:spPr>
          <a:xfrm flipH="false" flipV="false" rot="-10726236">
            <a:off x="13288786" y="-648443"/>
            <a:ext cx="4156830" cy="1979691"/>
          </a:xfrm>
          <a:custGeom>
            <a:avLst/>
            <a:gdLst/>
            <a:ahLst/>
            <a:cxnLst/>
            <a:rect r="r" b="b" t="t" l="l"/>
            <a:pathLst>
              <a:path h="1979691" w="4156830">
                <a:moveTo>
                  <a:pt x="0" y="0"/>
                </a:moveTo>
                <a:lnTo>
                  <a:pt x="4156830" y="0"/>
                </a:lnTo>
                <a:lnTo>
                  <a:pt x="4156830" y="1979691"/>
                </a:lnTo>
                <a:lnTo>
                  <a:pt x="0" y="1979691"/>
                </a:lnTo>
                <a:lnTo>
                  <a:pt x="0" y="0"/>
                </a:lnTo>
                <a:close/>
              </a:path>
            </a:pathLst>
          </a:custGeom>
          <a:blipFill>
            <a:blip r:embed="rId10"/>
            <a:stretch>
              <a:fillRect l="0" t="0" r="0" b="0"/>
            </a:stretch>
          </a:blipFill>
        </p:spPr>
      </p:sp>
      <p:sp>
        <p:nvSpPr>
          <p:cNvPr name="Freeform 12" id="12"/>
          <p:cNvSpPr/>
          <p:nvPr/>
        </p:nvSpPr>
        <p:spPr>
          <a:xfrm flipH="false" flipV="false" rot="0">
            <a:off x="10789271" y="-1202197"/>
            <a:ext cx="2478756" cy="2404393"/>
          </a:xfrm>
          <a:custGeom>
            <a:avLst/>
            <a:gdLst/>
            <a:ahLst/>
            <a:cxnLst/>
            <a:rect r="r" b="b" t="t" l="l"/>
            <a:pathLst>
              <a:path h="2404393" w="2478756">
                <a:moveTo>
                  <a:pt x="0" y="0"/>
                </a:moveTo>
                <a:lnTo>
                  <a:pt x="2478756" y="0"/>
                </a:lnTo>
                <a:lnTo>
                  <a:pt x="2478756" y="2404394"/>
                </a:lnTo>
                <a:lnTo>
                  <a:pt x="0" y="2404394"/>
                </a:lnTo>
                <a:lnTo>
                  <a:pt x="0" y="0"/>
                </a:lnTo>
                <a:close/>
              </a:path>
            </a:pathLst>
          </a:custGeom>
          <a:blipFill>
            <a:blip r:embed="rId11"/>
            <a:stretch>
              <a:fillRect l="0" t="0" r="0" b="0"/>
            </a:stretch>
          </a:blipFill>
        </p:spPr>
      </p:sp>
      <p:sp>
        <p:nvSpPr>
          <p:cNvPr name="Freeform 13" id="13"/>
          <p:cNvSpPr/>
          <p:nvPr/>
        </p:nvSpPr>
        <p:spPr>
          <a:xfrm flipH="false" flipV="false" rot="0">
            <a:off x="-778935" y="8261739"/>
            <a:ext cx="3287385" cy="3184654"/>
          </a:xfrm>
          <a:custGeom>
            <a:avLst/>
            <a:gdLst/>
            <a:ahLst/>
            <a:cxnLst/>
            <a:rect r="r" b="b" t="t" l="l"/>
            <a:pathLst>
              <a:path h="3184654" w="3287385">
                <a:moveTo>
                  <a:pt x="0" y="0"/>
                </a:moveTo>
                <a:lnTo>
                  <a:pt x="3287384" y="0"/>
                </a:lnTo>
                <a:lnTo>
                  <a:pt x="3287384" y="3184654"/>
                </a:lnTo>
                <a:lnTo>
                  <a:pt x="0" y="3184654"/>
                </a:lnTo>
                <a:lnTo>
                  <a:pt x="0" y="0"/>
                </a:lnTo>
                <a:close/>
              </a:path>
            </a:pathLst>
          </a:custGeom>
          <a:blipFill>
            <a:blip r:embed="rId12"/>
            <a:stretch>
              <a:fillRect l="0" t="0" r="0" b="0"/>
            </a:stretch>
          </a:blipFill>
        </p:spPr>
      </p:sp>
      <p:sp>
        <p:nvSpPr>
          <p:cNvPr name="Freeform 14" id="14"/>
          <p:cNvSpPr/>
          <p:nvPr/>
        </p:nvSpPr>
        <p:spPr>
          <a:xfrm flipH="false" flipV="false" rot="0">
            <a:off x="3083439" y="9151851"/>
            <a:ext cx="4283445" cy="2039991"/>
          </a:xfrm>
          <a:custGeom>
            <a:avLst/>
            <a:gdLst/>
            <a:ahLst/>
            <a:cxnLst/>
            <a:rect r="r" b="b" t="t" l="l"/>
            <a:pathLst>
              <a:path h="2039991" w="4283445">
                <a:moveTo>
                  <a:pt x="0" y="0"/>
                </a:moveTo>
                <a:lnTo>
                  <a:pt x="4283444" y="0"/>
                </a:lnTo>
                <a:lnTo>
                  <a:pt x="4283444" y="2039990"/>
                </a:lnTo>
                <a:lnTo>
                  <a:pt x="0" y="2039990"/>
                </a:lnTo>
                <a:lnTo>
                  <a:pt x="0" y="0"/>
                </a:lnTo>
                <a:close/>
              </a:path>
            </a:pathLst>
          </a:custGeom>
          <a:blipFill>
            <a:blip r:embed="rId10"/>
            <a:stretch>
              <a:fillRect l="0" t="0" r="0" b="0"/>
            </a:stretch>
          </a:blipFill>
        </p:spPr>
      </p:sp>
      <p:sp>
        <p:nvSpPr>
          <p:cNvPr name="Freeform 15" id="15"/>
          <p:cNvSpPr/>
          <p:nvPr/>
        </p:nvSpPr>
        <p:spPr>
          <a:xfrm flipH="false" flipV="false" rot="-8754662">
            <a:off x="5893358" y="-2053103"/>
            <a:ext cx="4176376" cy="3664770"/>
          </a:xfrm>
          <a:custGeom>
            <a:avLst/>
            <a:gdLst/>
            <a:ahLst/>
            <a:cxnLst/>
            <a:rect r="r" b="b" t="t" l="l"/>
            <a:pathLst>
              <a:path h="3664770" w="4176376">
                <a:moveTo>
                  <a:pt x="0" y="0"/>
                </a:moveTo>
                <a:lnTo>
                  <a:pt x="4176376" y="0"/>
                </a:lnTo>
                <a:lnTo>
                  <a:pt x="4176376" y="3664769"/>
                </a:lnTo>
                <a:lnTo>
                  <a:pt x="0" y="3664769"/>
                </a:lnTo>
                <a:lnTo>
                  <a:pt x="0" y="0"/>
                </a:lnTo>
                <a:close/>
              </a:path>
            </a:pathLst>
          </a:custGeom>
          <a:blipFill>
            <a:blip r:embed="rId7"/>
            <a:stretch>
              <a:fillRect l="0" t="0" r="0" b="0"/>
            </a:stretch>
          </a:blipFill>
        </p:spPr>
      </p:sp>
      <p:sp>
        <p:nvSpPr>
          <p:cNvPr name="TextBox 16" id="16"/>
          <p:cNvSpPr txBox="true"/>
          <p:nvPr/>
        </p:nvSpPr>
        <p:spPr>
          <a:xfrm rot="0">
            <a:off x="3931403" y="3588870"/>
            <a:ext cx="10425193" cy="4347509"/>
          </a:xfrm>
          <a:prstGeom prst="rect">
            <a:avLst/>
          </a:prstGeom>
        </p:spPr>
        <p:txBody>
          <a:bodyPr anchor="t" rtlCol="false" tIns="0" lIns="0" bIns="0" rIns="0">
            <a:spAutoFit/>
          </a:bodyPr>
          <a:lstStyle/>
          <a:p>
            <a:pPr algn="ctr" marL="0" indent="0" lvl="0">
              <a:lnSpc>
                <a:spcPts val="16396"/>
              </a:lnSpc>
            </a:pPr>
            <a:r>
              <a:rPr lang="en-US" sz="19065">
                <a:solidFill>
                  <a:srgbClr val="404040"/>
                </a:solidFill>
                <a:latin typeface="Hibernate"/>
                <a:ea typeface="Hibernate"/>
                <a:cs typeface="Hibernate"/>
                <a:sym typeface="Hibernate"/>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DAGX3A3lGLo</dc:identifier>
  <dcterms:modified xsi:type="dcterms:W3CDTF">2011-08-01T06:04:30Z</dcterms:modified>
  <cp:revision>1</cp:revision>
  <dc:title>Colorful Watercolor Creative Project Presentation</dc:title>
</cp:coreProperties>
</file>